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2"/>
  </p:notesMasterIdLst>
  <p:sldIdLst>
    <p:sldId id="256" r:id="rId5"/>
    <p:sldId id="285" r:id="rId6"/>
    <p:sldId id="257" r:id="rId7"/>
    <p:sldId id="266" r:id="rId8"/>
    <p:sldId id="284" r:id="rId9"/>
    <p:sldId id="287" r:id="rId10"/>
    <p:sldId id="286" r:id="rId11"/>
    <p:sldId id="293" r:id="rId12"/>
    <p:sldId id="258" r:id="rId13"/>
    <p:sldId id="294" r:id="rId14"/>
    <p:sldId id="296" r:id="rId15"/>
    <p:sldId id="288" r:id="rId16"/>
    <p:sldId id="297" r:id="rId17"/>
    <p:sldId id="295" r:id="rId18"/>
    <p:sldId id="290" r:id="rId19"/>
    <p:sldId id="289" r:id="rId20"/>
    <p:sldId id="283"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5E7645-B0FC-53C8-20C5-F3764FF50C0D}" v="33" dt="2025-11-29T22:18:55.707"/>
    <p1510:client id="{DFF5A77C-8910-468E-8B6C-815EBD025C79}" v="18" dt="2025-11-30T00:28:04.10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a:tcStyle>
        <a:tcBdr/>
        <a:fill>
          <a:solidFill>
            <a:srgbClr val="FFFFFF"/>
          </a:solidFill>
        </a:fill>
      </a:tcStyle>
    </a:band2H>
    <a:firstCo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FEFEF"/>
          </a:solidFill>
        </a:fill>
      </a:tcStyle>
    </a:wholeTbl>
    <a:band2H>
      <a:tcTxStyle/>
      <a:tcStyle>
        <a:tcBdr/>
        <a:fill>
          <a:solidFill>
            <a:srgbClr val="F7F7F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BE8CA"/>
          </a:solidFill>
        </a:fill>
      </a:tcStyle>
    </a:wholeTbl>
    <a:band2H>
      <a:tcTxStyle/>
      <a:tcStyle>
        <a:tcBdr/>
        <a:fill>
          <a:solidFill>
            <a:srgbClr val="FDF4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CBDE"/>
          </a:solidFill>
        </a:fill>
      </a:tcStyle>
    </a:wholeTbl>
    <a:band2H>
      <a:tcTxStyle/>
      <a:tcStyle>
        <a:tcBdr/>
        <a:fill>
          <a:solidFill>
            <a:srgbClr val="EBE7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5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E0CA54-8C2A-44F9-93CD-0FA4C116C8AF}"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s-ES"/>
        </a:p>
      </dgm:t>
    </dgm:pt>
    <dgm:pt modelId="{56E1BCFE-4233-454C-AD7B-7B1E012CA243}">
      <dgm:prSet/>
      <dgm:spPr/>
      <dgm:t>
        <a:bodyPr/>
        <a:lstStyle/>
        <a:p>
          <a:r>
            <a:rPr lang="es-MX" b="0" i="0" baseline="0" dirty="0"/>
            <a:t>Diseño de la solución: </a:t>
          </a:r>
          <a:r>
            <a:rPr lang="es-MX" b="0" i="0" baseline="0" dirty="0" err="1"/>
            <a:t>Segmentacion</a:t>
          </a:r>
          <a:r>
            <a:rPr lang="es-MX" b="0" i="0" baseline="0" dirty="0"/>
            <a:t> de la red.</a:t>
          </a:r>
          <a:endParaRPr lang="es-ES" dirty="0"/>
        </a:p>
      </dgm:t>
    </dgm:pt>
    <dgm:pt modelId="{9CBD1215-B119-495B-9DE4-4C55193DB29A}" type="parTrans" cxnId="{E18008A5-41C8-442B-B548-B2361F1092C2}">
      <dgm:prSet/>
      <dgm:spPr/>
      <dgm:t>
        <a:bodyPr/>
        <a:lstStyle/>
        <a:p>
          <a:endParaRPr lang="es-ES"/>
        </a:p>
      </dgm:t>
    </dgm:pt>
    <dgm:pt modelId="{BD229469-8DD7-45BC-AE26-10C723928A69}" type="sibTrans" cxnId="{E18008A5-41C8-442B-B548-B2361F1092C2}">
      <dgm:prSet/>
      <dgm:spPr/>
      <dgm:t>
        <a:bodyPr/>
        <a:lstStyle/>
        <a:p>
          <a:endParaRPr lang="es-ES"/>
        </a:p>
      </dgm:t>
    </dgm:pt>
    <dgm:pt modelId="{A5203572-E2AA-4A83-A4FE-16F44CD0F945}" type="pres">
      <dgm:prSet presAssocID="{DCE0CA54-8C2A-44F9-93CD-0FA4C116C8AF}" presName="linear" presStyleCnt="0">
        <dgm:presLayoutVars>
          <dgm:animLvl val="lvl"/>
          <dgm:resizeHandles val="exact"/>
        </dgm:presLayoutVars>
      </dgm:prSet>
      <dgm:spPr/>
    </dgm:pt>
    <dgm:pt modelId="{2FC36996-8236-41ED-BB86-1EF0750C2D11}" type="pres">
      <dgm:prSet presAssocID="{56E1BCFE-4233-454C-AD7B-7B1E012CA243}" presName="parentText" presStyleLbl="node1" presStyleIdx="0" presStyleCnt="1">
        <dgm:presLayoutVars>
          <dgm:chMax val="0"/>
          <dgm:bulletEnabled val="1"/>
        </dgm:presLayoutVars>
      </dgm:prSet>
      <dgm:spPr/>
    </dgm:pt>
  </dgm:ptLst>
  <dgm:cxnLst>
    <dgm:cxn modelId="{7D531825-396C-4DED-BDFC-964FCFF9E34C}" type="presOf" srcId="{DCE0CA54-8C2A-44F9-93CD-0FA4C116C8AF}" destId="{A5203572-E2AA-4A83-A4FE-16F44CD0F945}" srcOrd="0" destOrd="0" presId="urn:microsoft.com/office/officeart/2005/8/layout/vList2"/>
    <dgm:cxn modelId="{FD400C2D-15EA-4A84-A3F6-24383585B99E}" type="presOf" srcId="{56E1BCFE-4233-454C-AD7B-7B1E012CA243}" destId="{2FC36996-8236-41ED-BB86-1EF0750C2D11}" srcOrd="0" destOrd="0" presId="urn:microsoft.com/office/officeart/2005/8/layout/vList2"/>
    <dgm:cxn modelId="{E18008A5-41C8-442B-B548-B2361F1092C2}" srcId="{DCE0CA54-8C2A-44F9-93CD-0FA4C116C8AF}" destId="{56E1BCFE-4233-454C-AD7B-7B1E012CA243}" srcOrd="0" destOrd="0" parTransId="{9CBD1215-B119-495B-9DE4-4C55193DB29A}" sibTransId="{BD229469-8DD7-45BC-AE26-10C723928A69}"/>
    <dgm:cxn modelId="{EA0E1E4B-951C-4166-9019-37BDC76A592D}" type="presParOf" srcId="{A5203572-E2AA-4A83-A4FE-16F44CD0F945}" destId="{2FC36996-8236-41ED-BB86-1EF0750C2D1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C9186E-79BA-4EA2-9ACA-886B7ACEF5C6}"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s-ES"/>
        </a:p>
      </dgm:t>
    </dgm:pt>
    <dgm:pt modelId="{AEC223E2-E92B-4637-AEEB-86F8573065FB}">
      <dgm:prSet/>
      <dgm:spPr/>
      <dgm:t>
        <a:bodyPr/>
        <a:lstStyle/>
        <a:p>
          <a:r>
            <a:rPr lang="es-MX" b="0" i="0" baseline="0" dirty="0"/>
            <a:t>Diseño de la solución: Segmentación de la red.</a:t>
          </a:r>
          <a:endParaRPr lang="es-ES" dirty="0"/>
        </a:p>
      </dgm:t>
    </dgm:pt>
    <dgm:pt modelId="{BD982424-DE88-435B-B144-89C75144437F}" type="parTrans" cxnId="{400E7BEF-4F7E-41A2-94BB-19653F560615}">
      <dgm:prSet/>
      <dgm:spPr/>
      <dgm:t>
        <a:bodyPr/>
        <a:lstStyle/>
        <a:p>
          <a:endParaRPr lang="es-ES"/>
        </a:p>
      </dgm:t>
    </dgm:pt>
    <dgm:pt modelId="{B8C89DC8-B7BF-4924-9128-5BE0A9CF4813}" type="sibTrans" cxnId="{400E7BEF-4F7E-41A2-94BB-19653F560615}">
      <dgm:prSet/>
      <dgm:spPr/>
      <dgm:t>
        <a:bodyPr/>
        <a:lstStyle/>
        <a:p>
          <a:endParaRPr lang="es-ES"/>
        </a:p>
      </dgm:t>
    </dgm:pt>
    <dgm:pt modelId="{FD364E8C-6FA5-484E-97D0-33997514EF61}" type="pres">
      <dgm:prSet presAssocID="{F4C9186E-79BA-4EA2-9ACA-886B7ACEF5C6}" presName="linear" presStyleCnt="0">
        <dgm:presLayoutVars>
          <dgm:animLvl val="lvl"/>
          <dgm:resizeHandles val="exact"/>
        </dgm:presLayoutVars>
      </dgm:prSet>
      <dgm:spPr/>
    </dgm:pt>
    <dgm:pt modelId="{DEF3939F-FF94-45C9-B8DF-9F5C58DA99AD}" type="pres">
      <dgm:prSet presAssocID="{AEC223E2-E92B-4637-AEEB-86F8573065FB}" presName="parentText" presStyleLbl="node1" presStyleIdx="0" presStyleCnt="1">
        <dgm:presLayoutVars>
          <dgm:chMax val="0"/>
          <dgm:bulletEnabled val="1"/>
        </dgm:presLayoutVars>
      </dgm:prSet>
      <dgm:spPr/>
    </dgm:pt>
  </dgm:ptLst>
  <dgm:cxnLst>
    <dgm:cxn modelId="{4AD56A30-AC9B-4498-8947-5BB4119F5E99}" type="presOf" srcId="{AEC223E2-E92B-4637-AEEB-86F8573065FB}" destId="{DEF3939F-FF94-45C9-B8DF-9F5C58DA99AD}" srcOrd="0" destOrd="0" presId="urn:microsoft.com/office/officeart/2005/8/layout/vList2"/>
    <dgm:cxn modelId="{30498E44-E1EE-4D0C-B25B-1FFDD11B0545}" type="presOf" srcId="{F4C9186E-79BA-4EA2-9ACA-886B7ACEF5C6}" destId="{FD364E8C-6FA5-484E-97D0-33997514EF61}" srcOrd="0" destOrd="0" presId="urn:microsoft.com/office/officeart/2005/8/layout/vList2"/>
    <dgm:cxn modelId="{400E7BEF-4F7E-41A2-94BB-19653F560615}" srcId="{F4C9186E-79BA-4EA2-9ACA-886B7ACEF5C6}" destId="{AEC223E2-E92B-4637-AEEB-86F8573065FB}" srcOrd="0" destOrd="0" parTransId="{BD982424-DE88-435B-B144-89C75144437F}" sibTransId="{B8C89DC8-B7BF-4924-9128-5BE0A9CF4813}"/>
    <dgm:cxn modelId="{89575146-F8D5-4CC5-B6EB-6EAF0638E2B3}" type="presParOf" srcId="{FD364E8C-6FA5-484E-97D0-33997514EF61}" destId="{DEF3939F-FF94-45C9-B8DF-9F5C58DA99A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7AE501-7901-4090-9E79-0E136BC2622F}"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s-ES"/>
        </a:p>
      </dgm:t>
    </dgm:pt>
    <dgm:pt modelId="{37A44D99-366E-4D23-8960-4BB896133388}">
      <dgm:prSet/>
      <dgm:spPr/>
      <dgm:t>
        <a:bodyPr/>
        <a:lstStyle/>
        <a:p>
          <a:r>
            <a:rPr lang="es-MX" b="1" i="0" baseline="0" dirty="0"/>
            <a:t>Simulación y prototipado</a:t>
          </a:r>
          <a:endParaRPr lang="es-ES" dirty="0"/>
        </a:p>
      </dgm:t>
    </dgm:pt>
    <dgm:pt modelId="{9C7789BE-67A8-469B-98F2-E38FDB451129}" type="parTrans" cxnId="{968D4971-70BF-437B-AE9C-7BFFB7A2E667}">
      <dgm:prSet/>
      <dgm:spPr/>
      <dgm:t>
        <a:bodyPr/>
        <a:lstStyle/>
        <a:p>
          <a:endParaRPr lang="es-ES"/>
        </a:p>
      </dgm:t>
    </dgm:pt>
    <dgm:pt modelId="{1D3E1592-5057-4FED-9218-FA3C8AE9193F}" type="sibTrans" cxnId="{968D4971-70BF-437B-AE9C-7BFFB7A2E667}">
      <dgm:prSet/>
      <dgm:spPr/>
      <dgm:t>
        <a:bodyPr/>
        <a:lstStyle/>
        <a:p>
          <a:endParaRPr lang="es-ES"/>
        </a:p>
      </dgm:t>
    </dgm:pt>
    <dgm:pt modelId="{CF0F9316-1C04-47BD-B56E-08C778C8B6BD}" type="pres">
      <dgm:prSet presAssocID="{287AE501-7901-4090-9E79-0E136BC2622F}" presName="linear" presStyleCnt="0">
        <dgm:presLayoutVars>
          <dgm:animLvl val="lvl"/>
          <dgm:resizeHandles val="exact"/>
        </dgm:presLayoutVars>
      </dgm:prSet>
      <dgm:spPr/>
    </dgm:pt>
    <dgm:pt modelId="{790E5A61-935A-4292-86F3-C4B302C6DEDA}" type="pres">
      <dgm:prSet presAssocID="{37A44D99-366E-4D23-8960-4BB896133388}" presName="parentText" presStyleLbl="node1" presStyleIdx="0" presStyleCnt="1">
        <dgm:presLayoutVars>
          <dgm:chMax val="0"/>
          <dgm:bulletEnabled val="1"/>
        </dgm:presLayoutVars>
      </dgm:prSet>
      <dgm:spPr/>
    </dgm:pt>
  </dgm:ptLst>
  <dgm:cxnLst>
    <dgm:cxn modelId="{E1C9F91E-5925-4917-92E7-FE53036DB247}" type="presOf" srcId="{37A44D99-366E-4D23-8960-4BB896133388}" destId="{790E5A61-935A-4292-86F3-C4B302C6DEDA}" srcOrd="0" destOrd="0" presId="urn:microsoft.com/office/officeart/2005/8/layout/vList2"/>
    <dgm:cxn modelId="{968D4971-70BF-437B-AE9C-7BFFB7A2E667}" srcId="{287AE501-7901-4090-9E79-0E136BC2622F}" destId="{37A44D99-366E-4D23-8960-4BB896133388}" srcOrd="0" destOrd="0" parTransId="{9C7789BE-67A8-469B-98F2-E38FDB451129}" sibTransId="{1D3E1592-5057-4FED-9218-FA3C8AE9193F}"/>
    <dgm:cxn modelId="{E9FCD3F3-730E-436B-A8C9-85B59011DE7C}" type="presOf" srcId="{287AE501-7901-4090-9E79-0E136BC2622F}" destId="{CF0F9316-1C04-47BD-B56E-08C778C8B6BD}" srcOrd="0" destOrd="0" presId="urn:microsoft.com/office/officeart/2005/8/layout/vList2"/>
    <dgm:cxn modelId="{E37FCA80-D681-4C28-953E-A98F4C2D8ACD}" type="presParOf" srcId="{CF0F9316-1C04-47BD-B56E-08C778C8B6BD}" destId="{790E5A61-935A-4292-86F3-C4B302C6DED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DE9DE4-AF8C-47DF-A61D-366D087F40D7}"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s-ES"/>
        </a:p>
      </dgm:t>
    </dgm:pt>
    <dgm:pt modelId="{7A2E8D5D-5F0D-4DE8-9A2B-9B5E9FB16D3D}">
      <dgm:prSet/>
      <dgm:spPr/>
      <dgm:t>
        <a:bodyPr/>
        <a:lstStyle/>
        <a:p>
          <a:r>
            <a:rPr lang="es-MX" b="1" i="0" baseline="0" dirty="0"/>
            <a:t>Simulación y prototipado</a:t>
          </a:r>
          <a:endParaRPr lang="es-ES" dirty="0"/>
        </a:p>
      </dgm:t>
    </dgm:pt>
    <dgm:pt modelId="{9DA259D9-0D28-4392-BB36-E4EC924D6ACC}" type="parTrans" cxnId="{53ABD606-5B8F-427B-BBD4-BF2134C513B2}">
      <dgm:prSet/>
      <dgm:spPr/>
      <dgm:t>
        <a:bodyPr/>
        <a:lstStyle/>
        <a:p>
          <a:endParaRPr lang="es-ES"/>
        </a:p>
      </dgm:t>
    </dgm:pt>
    <dgm:pt modelId="{BF7F3A0A-795A-4337-B116-F757E5B7413E}" type="sibTrans" cxnId="{53ABD606-5B8F-427B-BBD4-BF2134C513B2}">
      <dgm:prSet/>
      <dgm:spPr/>
      <dgm:t>
        <a:bodyPr/>
        <a:lstStyle/>
        <a:p>
          <a:endParaRPr lang="es-ES"/>
        </a:p>
      </dgm:t>
    </dgm:pt>
    <dgm:pt modelId="{08A68066-BB53-4629-B7FA-69D21576017F}" type="pres">
      <dgm:prSet presAssocID="{A4DE9DE4-AF8C-47DF-A61D-366D087F40D7}" presName="linear" presStyleCnt="0">
        <dgm:presLayoutVars>
          <dgm:animLvl val="lvl"/>
          <dgm:resizeHandles val="exact"/>
        </dgm:presLayoutVars>
      </dgm:prSet>
      <dgm:spPr/>
    </dgm:pt>
    <dgm:pt modelId="{3B50F636-40E5-49D0-8505-9CF4541E8809}" type="pres">
      <dgm:prSet presAssocID="{7A2E8D5D-5F0D-4DE8-9A2B-9B5E9FB16D3D}" presName="parentText" presStyleLbl="node1" presStyleIdx="0" presStyleCnt="1">
        <dgm:presLayoutVars>
          <dgm:chMax val="0"/>
          <dgm:bulletEnabled val="1"/>
        </dgm:presLayoutVars>
      </dgm:prSet>
      <dgm:spPr/>
    </dgm:pt>
  </dgm:ptLst>
  <dgm:cxnLst>
    <dgm:cxn modelId="{53ABD606-5B8F-427B-BBD4-BF2134C513B2}" srcId="{A4DE9DE4-AF8C-47DF-A61D-366D087F40D7}" destId="{7A2E8D5D-5F0D-4DE8-9A2B-9B5E9FB16D3D}" srcOrd="0" destOrd="0" parTransId="{9DA259D9-0D28-4392-BB36-E4EC924D6ACC}" sibTransId="{BF7F3A0A-795A-4337-B116-F757E5B7413E}"/>
    <dgm:cxn modelId="{9A93BC5C-F9C1-4BFE-B767-F920E4433524}" type="presOf" srcId="{7A2E8D5D-5F0D-4DE8-9A2B-9B5E9FB16D3D}" destId="{3B50F636-40E5-49D0-8505-9CF4541E8809}" srcOrd="0" destOrd="0" presId="urn:microsoft.com/office/officeart/2005/8/layout/vList2"/>
    <dgm:cxn modelId="{388B8056-83F4-4683-83F5-BE968BA691EE}" type="presOf" srcId="{A4DE9DE4-AF8C-47DF-A61D-366D087F40D7}" destId="{08A68066-BB53-4629-B7FA-69D21576017F}" srcOrd="0" destOrd="0" presId="urn:microsoft.com/office/officeart/2005/8/layout/vList2"/>
    <dgm:cxn modelId="{630E3A85-5A88-454D-ABEF-A185437BB82D}" type="presParOf" srcId="{08A68066-BB53-4629-B7FA-69D21576017F}" destId="{3B50F636-40E5-49D0-8505-9CF4541E880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AFCBD23-07F9-44A5-BD2E-F6E68ED68E44}"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s-ES"/>
        </a:p>
      </dgm:t>
    </dgm:pt>
    <dgm:pt modelId="{6C5CE57B-E9BC-4DCD-8324-E739B3583F9F}">
      <dgm:prSet/>
      <dgm:spPr/>
      <dgm:t>
        <a:bodyPr/>
        <a:lstStyle/>
        <a:p>
          <a:r>
            <a:rPr lang="es-MX" b="0" i="0" baseline="0" dirty="0"/>
            <a:t>Resultados de validación y usabilidad</a:t>
          </a:r>
          <a:endParaRPr lang="es-ES" dirty="0"/>
        </a:p>
      </dgm:t>
    </dgm:pt>
    <dgm:pt modelId="{DFEFCC5D-2227-4827-B3E1-4BEDDB370B6C}" type="parTrans" cxnId="{E39EC4D6-DAA8-454F-89DA-0988FFE6A810}">
      <dgm:prSet/>
      <dgm:spPr/>
      <dgm:t>
        <a:bodyPr/>
        <a:lstStyle/>
        <a:p>
          <a:endParaRPr lang="es-ES"/>
        </a:p>
      </dgm:t>
    </dgm:pt>
    <dgm:pt modelId="{D3424A7F-DB5E-496F-A8F0-91A590ED7463}" type="sibTrans" cxnId="{E39EC4D6-DAA8-454F-89DA-0988FFE6A810}">
      <dgm:prSet/>
      <dgm:spPr/>
      <dgm:t>
        <a:bodyPr/>
        <a:lstStyle/>
        <a:p>
          <a:endParaRPr lang="es-ES"/>
        </a:p>
      </dgm:t>
    </dgm:pt>
    <dgm:pt modelId="{2123BE76-A15D-4853-A0BB-5C4686B4D586}" type="pres">
      <dgm:prSet presAssocID="{4AFCBD23-07F9-44A5-BD2E-F6E68ED68E44}" presName="linear" presStyleCnt="0">
        <dgm:presLayoutVars>
          <dgm:animLvl val="lvl"/>
          <dgm:resizeHandles val="exact"/>
        </dgm:presLayoutVars>
      </dgm:prSet>
      <dgm:spPr/>
    </dgm:pt>
    <dgm:pt modelId="{DF2878F4-7D41-4951-940F-17D234E323FB}" type="pres">
      <dgm:prSet presAssocID="{6C5CE57B-E9BC-4DCD-8324-E739B3583F9F}" presName="parentText" presStyleLbl="node1" presStyleIdx="0" presStyleCnt="1">
        <dgm:presLayoutVars>
          <dgm:chMax val="0"/>
          <dgm:bulletEnabled val="1"/>
        </dgm:presLayoutVars>
      </dgm:prSet>
      <dgm:spPr/>
    </dgm:pt>
  </dgm:ptLst>
  <dgm:cxnLst>
    <dgm:cxn modelId="{CC364269-AEF2-499D-BD1A-BAC4AB8D49DA}" type="presOf" srcId="{6C5CE57B-E9BC-4DCD-8324-E739B3583F9F}" destId="{DF2878F4-7D41-4951-940F-17D234E323FB}" srcOrd="0" destOrd="0" presId="urn:microsoft.com/office/officeart/2005/8/layout/vList2"/>
    <dgm:cxn modelId="{BC9EA3D4-591F-4AD3-A878-B3ABADAADDC6}" type="presOf" srcId="{4AFCBD23-07F9-44A5-BD2E-F6E68ED68E44}" destId="{2123BE76-A15D-4853-A0BB-5C4686B4D586}" srcOrd="0" destOrd="0" presId="urn:microsoft.com/office/officeart/2005/8/layout/vList2"/>
    <dgm:cxn modelId="{E39EC4D6-DAA8-454F-89DA-0988FFE6A810}" srcId="{4AFCBD23-07F9-44A5-BD2E-F6E68ED68E44}" destId="{6C5CE57B-E9BC-4DCD-8324-E739B3583F9F}" srcOrd="0" destOrd="0" parTransId="{DFEFCC5D-2227-4827-B3E1-4BEDDB370B6C}" sibTransId="{D3424A7F-DB5E-496F-A8F0-91A590ED7463}"/>
    <dgm:cxn modelId="{70203CED-4762-4C0C-86D4-E84129030E61}" type="presParOf" srcId="{2123BE76-A15D-4853-A0BB-5C4686B4D586}" destId="{DF2878F4-7D41-4951-940F-17D234E323F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0DF5F59-D216-483E-84E3-40BA2EB5B7D0}"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s-ES"/>
        </a:p>
      </dgm:t>
    </dgm:pt>
    <dgm:pt modelId="{570C7030-9A53-4C36-9544-DD843AF69590}">
      <dgm:prSet/>
      <dgm:spPr/>
      <dgm:t>
        <a:bodyPr/>
        <a:lstStyle/>
        <a:p>
          <a:r>
            <a:rPr lang="es-CO" b="0" i="0" baseline="0" dirty="0"/>
            <a:t>Conclusiones y trabajo futuro</a:t>
          </a:r>
          <a:endParaRPr lang="es-ES" dirty="0"/>
        </a:p>
      </dgm:t>
    </dgm:pt>
    <dgm:pt modelId="{69696F82-3066-454C-BB12-236CA938D92E}" type="parTrans" cxnId="{640C295F-AAFF-421E-B0E3-2568240E0357}">
      <dgm:prSet/>
      <dgm:spPr/>
      <dgm:t>
        <a:bodyPr/>
        <a:lstStyle/>
        <a:p>
          <a:endParaRPr lang="es-ES"/>
        </a:p>
      </dgm:t>
    </dgm:pt>
    <dgm:pt modelId="{A3DA30C6-5BE9-400E-8475-B15090AF8307}" type="sibTrans" cxnId="{640C295F-AAFF-421E-B0E3-2568240E0357}">
      <dgm:prSet/>
      <dgm:spPr/>
      <dgm:t>
        <a:bodyPr/>
        <a:lstStyle/>
        <a:p>
          <a:endParaRPr lang="es-ES"/>
        </a:p>
      </dgm:t>
    </dgm:pt>
    <dgm:pt modelId="{8E6A3185-4F3C-415B-A73F-2E90C6E76302}" type="pres">
      <dgm:prSet presAssocID="{E0DF5F59-D216-483E-84E3-40BA2EB5B7D0}" presName="linear" presStyleCnt="0">
        <dgm:presLayoutVars>
          <dgm:animLvl val="lvl"/>
          <dgm:resizeHandles val="exact"/>
        </dgm:presLayoutVars>
      </dgm:prSet>
      <dgm:spPr/>
    </dgm:pt>
    <dgm:pt modelId="{589E244A-9AC0-4393-9170-F768013FB2D1}" type="pres">
      <dgm:prSet presAssocID="{570C7030-9A53-4C36-9544-DD843AF69590}" presName="parentText" presStyleLbl="node1" presStyleIdx="0" presStyleCnt="1" custLinFactNeighborX="-23728" custLinFactNeighborY="9085">
        <dgm:presLayoutVars>
          <dgm:chMax val="0"/>
          <dgm:bulletEnabled val="1"/>
        </dgm:presLayoutVars>
      </dgm:prSet>
      <dgm:spPr/>
    </dgm:pt>
  </dgm:ptLst>
  <dgm:cxnLst>
    <dgm:cxn modelId="{417AEB00-9B86-4791-9642-9C87CFD4BFF0}" type="presOf" srcId="{570C7030-9A53-4C36-9544-DD843AF69590}" destId="{589E244A-9AC0-4393-9170-F768013FB2D1}" srcOrd="0" destOrd="0" presId="urn:microsoft.com/office/officeart/2005/8/layout/vList2"/>
    <dgm:cxn modelId="{640C295F-AAFF-421E-B0E3-2568240E0357}" srcId="{E0DF5F59-D216-483E-84E3-40BA2EB5B7D0}" destId="{570C7030-9A53-4C36-9544-DD843AF69590}" srcOrd="0" destOrd="0" parTransId="{69696F82-3066-454C-BB12-236CA938D92E}" sibTransId="{A3DA30C6-5BE9-400E-8475-B15090AF8307}"/>
    <dgm:cxn modelId="{8FA44CC7-3662-4C33-AF0E-B41BD9E7E630}" type="presOf" srcId="{E0DF5F59-D216-483E-84E3-40BA2EB5B7D0}" destId="{8E6A3185-4F3C-415B-A73F-2E90C6E76302}" srcOrd="0" destOrd="0" presId="urn:microsoft.com/office/officeart/2005/8/layout/vList2"/>
    <dgm:cxn modelId="{FED74FCC-029A-48CB-9D35-8349D2955EBB}" type="presParOf" srcId="{8E6A3185-4F3C-415B-A73F-2E90C6E76302}" destId="{589E244A-9AC0-4393-9170-F768013FB2D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36996-8236-41ED-BB86-1EF0750C2D11}">
      <dsp:nvSpPr>
        <dsp:cNvPr id="0" name=""/>
        <dsp:cNvSpPr/>
      </dsp:nvSpPr>
      <dsp:spPr>
        <a:xfrm>
          <a:off x="0" y="167427"/>
          <a:ext cx="9152666" cy="7722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MX" sz="3300" b="0" i="0" kern="1200" baseline="0" dirty="0"/>
            <a:t>Diseño de la solución: </a:t>
          </a:r>
          <a:r>
            <a:rPr lang="es-MX" sz="3300" b="0" i="0" kern="1200" baseline="0" dirty="0" err="1"/>
            <a:t>Segmentacion</a:t>
          </a:r>
          <a:r>
            <a:rPr lang="es-MX" sz="3300" b="0" i="0" kern="1200" baseline="0" dirty="0"/>
            <a:t> de la red.</a:t>
          </a:r>
          <a:endParaRPr lang="es-ES" sz="3300" kern="1200" dirty="0"/>
        </a:p>
      </dsp:txBody>
      <dsp:txXfrm>
        <a:off x="37696" y="205123"/>
        <a:ext cx="9077274" cy="6968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3939F-FF94-45C9-B8DF-9F5C58DA99AD}">
      <dsp:nvSpPr>
        <dsp:cNvPr id="0" name=""/>
        <dsp:cNvSpPr/>
      </dsp:nvSpPr>
      <dsp:spPr>
        <a:xfrm>
          <a:off x="0" y="12987"/>
          <a:ext cx="4362450" cy="10810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b="0" i="0" kern="1200" baseline="0" dirty="0"/>
            <a:t>Diseño de la solución: Segmentación de la red.</a:t>
          </a:r>
          <a:endParaRPr lang="es-ES" sz="2800" kern="1200" dirty="0"/>
        </a:p>
      </dsp:txBody>
      <dsp:txXfrm>
        <a:off x="52774" y="65761"/>
        <a:ext cx="4256902" cy="9755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0E5A61-935A-4292-86F3-C4B302C6DEDA}">
      <dsp:nvSpPr>
        <dsp:cNvPr id="0" name=""/>
        <dsp:cNvSpPr/>
      </dsp:nvSpPr>
      <dsp:spPr>
        <a:xfrm>
          <a:off x="0" y="49243"/>
          <a:ext cx="7423546" cy="10530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s-MX" sz="4500" b="1" i="0" kern="1200" baseline="0" dirty="0"/>
            <a:t>Simulación y prototipado</a:t>
          </a:r>
          <a:endParaRPr lang="es-ES" sz="4500" kern="1200" dirty="0"/>
        </a:p>
      </dsp:txBody>
      <dsp:txXfrm>
        <a:off x="51403" y="100646"/>
        <a:ext cx="7320740" cy="9501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0F636-40E5-49D0-8505-9CF4541E8809}">
      <dsp:nvSpPr>
        <dsp:cNvPr id="0" name=""/>
        <dsp:cNvSpPr/>
      </dsp:nvSpPr>
      <dsp:spPr>
        <a:xfrm>
          <a:off x="0" y="330300"/>
          <a:ext cx="8014202" cy="1123199"/>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s-MX" sz="4800" b="1" i="0" kern="1200" baseline="0" dirty="0"/>
            <a:t>Simulación y prototipado</a:t>
          </a:r>
          <a:endParaRPr lang="es-ES" sz="4800" kern="1200" dirty="0"/>
        </a:p>
      </dsp:txBody>
      <dsp:txXfrm>
        <a:off x="54830" y="385130"/>
        <a:ext cx="7904542" cy="10135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2878F4-7D41-4951-940F-17D234E323FB}">
      <dsp:nvSpPr>
        <dsp:cNvPr id="0" name=""/>
        <dsp:cNvSpPr/>
      </dsp:nvSpPr>
      <dsp:spPr>
        <a:xfrm>
          <a:off x="0" y="10034"/>
          <a:ext cx="5495914" cy="127413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MX" sz="3300" b="0" i="0" kern="1200" baseline="0" dirty="0"/>
            <a:t>Resultados de validación y usabilidad</a:t>
          </a:r>
          <a:endParaRPr lang="es-ES" sz="3300" kern="1200" dirty="0"/>
        </a:p>
      </dsp:txBody>
      <dsp:txXfrm>
        <a:off x="62198" y="72232"/>
        <a:ext cx="5371518" cy="11497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9E244A-9AC0-4393-9170-F768013FB2D1}">
      <dsp:nvSpPr>
        <dsp:cNvPr id="0" name=""/>
        <dsp:cNvSpPr/>
      </dsp:nvSpPr>
      <dsp:spPr>
        <a:xfrm>
          <a:off x="0" y="127500"/>
          <a:ext cx="7058989" cy="9360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s-CO" sz="4000" b="0" i="0" kern="1200" baseline="0" dirty="0"/>
            <a:t>Conclusiones y trabajo futuro</a:t>
          </a:r>
          <a:endParaRPr lang="es-ES" sz="4000" kern="1200" dirty="0"/>
        </a:p>
      </dsp:txBody>
      <dsp:txXfrm>
        <a:off x="45692" y="173192"/>
        <a:ext cx="6967605" cy="8446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9" name="Shape 159"/>
          <p:cNvSpPr>
            <a:spLocks noGrp="1" noRot="1" noChangeAspect="1"/>
          </p:cNvSpPr>
          <p:nvPr>
            <p:ph type="sldImg"/>
          </p:nvPr>
        </p:nvSpPr>
        <p:spPr>
          <a:xfrm>
            <a:off x="1143000" y="685800"/>
            <a:ext cx="4572000" cy="3429000"/>
          </a:xfrm>
          <a:prstGeom prst="rect">
            <a:avLst/>
          </a:prstGeom>
        </p:spPr>
        <p:txBody>
          <a:bodyPr/>
          <a:lstStyle/>
          <a:p>
            <a:endParaRPr/>
          </a:p>
        </p:txBody>
      </p:sp>
      <p:sp>
        <p:nvSpPr>
          <p:cNvPr id="160" name="Shape 16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s-ES"/>
          </a:p>
        </p:txBody>
      </p:sp>
      <p:sp>
        <p:nvSpPr>
          <p:cNvPr id="3" name="Notes Placeholder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0256046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bg>
      <p:bgPr>
        <a:solidFill>
          <a:srgbClr val="FFFFFF"/>
        </a:solidFill>
        <a:effectLst/>
      </p:bgPr>
    </p:bg>
    <p:spTree>
      <p:nvGrpSpPr>
        <p:cNvPr id="1" name=""/>
        <p:cNvGrpSpPr/>
        <p:nvPr/>
      </p:nvGrpSpPr>
      <p:grpSpPr>
        <a:xfrm>
          <a:off x="0" y="0"/>
          <a:ext cx="0" cy="0"/>
          <a:chOff x="0" y="0"/>
          <a:chExt cx="0" cy="0"/>
        </a:xfrm>
      </p:grpSpPr>
      <p:pic>
        <p:nvPicPr>
          <p:cNvPr id="15" name="Google Shape;10;p23" descr="Google Shape;10;p23"/>
          <p:cNvPicPr>
            <a:picLocks noChangeAspect="1"/>
          </p:cNvPicPr>
          <p:nvPr/>
        </p:nvPicPr>
        <p:blipFill>
          <a:blip r:embed="rId2"/>
          <a:srcRect t="651" b="651"/>
          <a:stretch>
            <a:fillRect/>
          </a:stretch>
        </p:blipFill>
        <p:spPr>
          <a:xfrm>
            <a:off x="-24876" y="0"/>
            <a:ext cx="12352351" cy="6858000"/>
          </a:xfrm>
          <a:prstGeom prst="rect">
            <a:avLst/>
          </a:prstGeom>
          <a:ln w="12700">
            <a:miter lim="400000"/>
          </a:ln>
        </p:spPr>
      </p:pic>
      <p:sp>
        <p:nvSpPr>
          <p:cNvPr id="16" name="Texto del título"/>
          <p:cNvSpPr txBox="1">
            <a:spLocks noGrp="1"/>
          </p:cNvSpPr>
          <p:nvPr>
            <p:ph type="title"/>
          </p:nvPr>
        </p:nvSpPr>
        <p:spPr>
          <a:xfrm>
            <a:off x="6576148" y="3676420"/>
            <a:ext cx="4183202" cy="1552201"/>
          </a:xfrm>
          <a:prstGeom prst="rect">
            <a:avLst/>
          </a:prstGeom>
        </p:spPr>
        <p:txBody>
          <a:bodyPr anchor="b"/>
          <a:lstStyle>
            <a:lvl1pPr algn="r">
              <a:defRPr sz="3300">
                <a:solidFill>
                  <a:srgbClr val="FFFFFF"/>
                </a:solidFill>
              </a:defRPr>
            </a:lvl1pPr>
          </a:lstStyle>
          <a:p>
            <a:r>
              <a:t>Texto del título</a:t>
            </a:r>
          </a:p>
        </p:txBody>
      </p:sp>
      <p:sp>
        <p:nvSpPr>
          <p:cNvPr id="17" name="Nivel de texto 1…"/>
          <p:cNvSpPr txBox="1">
            <a:spLocks noGrp="1"/>
          </p:cNvSpPr>
          <p:nvPr>
            <p:ph type="body" sz="quarter" idx="1"/>
          </p:nvPr>
        </p:nvSpPr>
        <p:spPr>
          <a:xfrm>
            <a:off x="6353549" y="5259251"/>
            <a:ext cx="4405801" cy="768901"/>
          </a:xfrm>
          <a:prstGeom prst="rect">
            <a:avLst/>
          </a:prstGeom>
        </p:spPr>
        <p:txBody>
          <a:bodyPr anchor="b"/>
          <a:lstStyle>
            <a:lvl1pPr marL="406400" indent="-355600" algn="r">
              <a:buClrTx/>
              <a:buSzTx/>
              <a:buFontTx/>
              <a:buNone/>
              <a:defRPr sz="2200">
                <a:solidFill>
                  <a:srgbClr val="00FFFF"/>
                </a:solidFill>
              </a:defRPr>
            </a:lvl1pPr>
            <a:lvl2pPr marL="406400" indent="127000" algn="r">
              <a:buClrTx/>
              <a:buSzTx/>
              <a:buFontTx/>
              <a:buNone/>
              <a:defRPr sz="2200">
                <a:solidFill>
                  <a:srgbClr val="00FFFF"/>
                </a:solidFill>
              </a:defRPr>
            </a:lvl2pPr>
            <a:lvl3pPr marL="406400" indent="609600" algn="r">
              <a:buClrTx/>
              <a:buSzTx/>
              <a:buFontTx/>
              <a:buNone/>
              <a:defRPr sz="2200">
                <a:solidFill>
                  <a:srgbClr val="00FFFF"/>
                </a:solidFill>
              </a:defRPr>
            </a:lvl3pPr>
            <a:lvl4pPr marL="406400" indent="1079500" algn="r">
              <a:buClrTx/>
              <a:buSzTx/>
              <a:buFontTx/>
              <a:buNone/>
              <a:defRPr sz="2200">
                <a:solidFill>
                  <a:srgbClr val="00FFFF"/>
                </a:solidFill>
              </a:defRPr>
            </a:lvl4pPr>
            <a:lvl5pPr marL="406400" indent="1536700" algn="r">
              <a:buClrTx/>
              <a:buSzTx/>
              <a:buFontTx/>
              <a:buNone/>
              <a:defRPr sz="2200">
                <a:solidFill>
                  <a:srgbClr val="00FFFF"/>
                </a:solidFill>
              </a:defRPr>
            </a:lvl5pPr>
          </a:lstStyle>
          <a:p>
            <a:r>
              <a:t>Nivel de texto 1</a:t>
            </a:r>
          </a:p>
          <a:p>
            <a:pPr lvl="1"/>
            <a:r>
              <a:t>Nivel de texto 2</a:t>
            </a:r>
          </a:p>
          <a:p>
            <a:pPr lvl="2"/>
            <a:r>
              <a:t>Nivel de texto 3</a:t>
            </a:r>
          </a:p>
          <a:p>
            <a:pPr lvl="3"/>
            <a:r>
              <a:t>Nivel de texto 4</a:t>
            </a:r>
          </a:p>
          <a:p>
            <a:pPr lvl="4"/>
            <a:r>
              <a:t>Nivel de texto 5</a:t>
            </a:r>
          </a:p>
        </p:txBody>
      </p:sp>
      <p:pic>
        <p:nvPicPr>
          <p:cNvPr id="18" name="Google Shape;13;p23" descr="Google Shape;13;p23"/>
          <p:cNvPicPr>
            <a:picLocks noChangeAspect="1"/>
          </p:cNvPicPr>
          <p:nvPr/>
        </p:nvPicPr>
        <p:blipFill>
          <a:blip r:embed="rId3"/>
          <a:srcRect b="42899"/>
          <a:stretch>
            <a:fillRect/>
          </a:stretch>
        </p:blipFill>
        <p:spPr>
          <a:xfrm rot="16200000">
            <a:off x="8428498" y="2569549"/>
            <a:ext cx="7281327" cy="1634226"/>
          </a:xfrm>
          <a:prstGeom prst="rect">
            <a:avLst/>
          </a:prstGeom>
          <a:ln w="12700">
            <a:miter lim="400000"/>
          </a:ln>
        </p:spPr>
      </p:pic>
      <p:pic>
        <p:nvPicPr>
          <p:cNvPr id="19" name="Google Shape;14;p23" descr="Google Shape;14;p23"/>
          <p:cNvPicPr>
            <a:picLocks noChangeAspect="1"/>
          </p:cNvPicPr>
          <p:nvPr/>
        </p:nvPicPr>
        <p:blipFill>
          <a:blip r:embed="rId4"/>
          <a:stretch>
            <a:fillRect/>
          </a:stretch>
        </p:blipFill>
        <p:spPr>
          <a:xfrm>
            <a:off x="6576148" y="1043351"/>
            <a:ext cx="4183159" cy="721016"/>
          </a:xfrm>
          <a:prstGeom prst="rect">
            <a:avLst/>
          </a:prstGeom>
          <a:ln w="12700">
            <a:miter lim="400000"/>
          </a:ln>
        </p:spPr>
      </p:pic>
      <p:sp>
        <p:nvSpPr>
          <p:cNvPr id="20"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ítulo y objetos">
    <p:bg>
      <p:bgPr>
        <a:solidFill>
          <a:srgbClr val="FFFFFF"/>
        </a:solidFill>
        <a:effectLst/>
      </p:bgPr>
    </p:bg>
    <p:spTree>
      <p:nvGrpSpPr>
        <p:cNvPr id="1" name=""/>
        <p:cNvGrpSpPr/>
        <p:nvPr/>
      </p:nvGrpSpPr>
      <p:grpSpPr>
        <a:xfrm>
          <a:off x="0" y="0"/>
          <a:ext cx="0" cy="0"/>
          <a:chOff x="0" y="0"/>
          <a:chExt cx="0" cy="0"/>
        </a:xfrm>
      </p:grpSpPr>
      <p:sp>
        <p:nvSpPr>
          <p:cNvPr id="27" name="Nivel de texto 1…"/>
          <p:cNvSpPr txBox="1">
            <a:spLocks noGrp="1"/>
          </p:cNvSpPr>
          <p:nvPr>
            <p:ph type="body" sz="half" idx="1"/>
          </p:nvPr>
        </p:nvSpPr>
        <p:spPr>
          <a:xfrm>
            <a:off x="3058149" y="2048924"/>
            <a:ext cx="8295601" cy="3751202"/>
          </a:xfrm>
          <a:prstGeom prst="rect">
            <a:avLst/>
          </a:prstGeom>
        </p:spPr>
        <p:txBody>
          <a:bodyPr/>
          <a:lstStyle>
            <a:lvl1pPr indent="-342900"/>
            <a:lvl2pPr marL="971550" indent="-400050"/>
            <a:lvl3pPr marL="1508760" indent="-480060"/>
          </a:lstStyle>
          <a:p>
            <a:r>
              <a:t>Nivel de texto 1</a:t>
            </a:r>
          </a:p>
          <a:p>
            <a:pPr lvl="1"/>
            <a:r>
              <a:t>Nivel de texto 2</a:t>
            </a:r>
          </a:p>
          <a:p>
            <a:pPr lvl="2"/>
            <a:r>
              <a:t>Nivel de texto 3</a:t>
            </a:r>
          </a:p>
          <a:p>
            <a:pPr lvl="3"/>
            <a:r>
              <a:t>Nivel de texto 4</a:t>
            </a:r>
          </a:p>
          <a:p>
            <a:pPr lvl="4"/>
            <a:r>
              <a:t>Nivel de texto 5</a:t>
            </a:r>
          </a:p>
        </p:txBody>
      </p:sp>
      <p:sp>
        <p:nvSpPr>
          <p:cNvPr id="28" name="Texto del título"/>
          <p:cNvSpPr txBox="1">
            <a:spLocks noGrp="1"/>
          </p:cNvSpPr>
          <p:nvPr>
            <p:ph type="title"/>
          </p:nvPr>
        </p:nvSpPr>
        <p:spPr>
          <a:xfrm>
            <a:off x="3058152" y="365125"/>
            <a:ext cx="6339900" cy="1294200"/>
          </a:xfrm>
          <a:prstGeom prst="rect">
            <a:avLst/>
          </a:prstGeom>
        </p:spPr>
        <p:txBody>
          <a:bodyPr/>
          <a:lstStyle>
            <a:lvl1pPr algn="l">
              <a:defRPr>
                <a:solidFill>
                  <a:schemeClr val="accent2"/>
                </a:solidFill>
              </a:defRPr>
            </a:lvl1pPr>
          </a:lstStyle>
          <a:p>
            <a:r>
              <a:t>Texto del título</a:t>
            </a:r>
          </a:p>
        </p:txBody>
      </p:sp>
      <p:pic>
        <p:nvPicPr>
          <p:cNvPr id="29" name="Google Shape;18;p24" descr="Google Shape;18;p24"/>
          <p:cNvPicPr>
            <a:picLocks noChangeAspect="1"/>
          </p:cNvPicPr>
          <p:nvPr/>
        </p:nvPicPr>
        <p:blipFill>
          <a:blip r:embed="rId2"/>
          <a:stretch>
            <a:fillRect/>
          </a:stretch>
        </p:blipFill>
        <p:spPr>
          <a:xfrm rot="5400000">
            <a:off x="-4910683" y="2977016"/>
            <a:ext cx="12192001" cy="1649017"/>
          </a:xfrm>
          <a:prstGeom prst="rect">
            <a:avLst/>
          </a:prstGeom>
          <a:ln w="12700">
            <a:miter lim="400000"/>
          </a:ln>
        </p:spPr>
      </p:pic>
      <p:pic>
        <p:nvPicPr>
          <p:cNvPr id="30" name="Google Shape;20;p24" descr="Google Shape;20;p24"/>
          <p:cNvPicPr>
            <a:picLocks noChangeAspect="1"/>
          </p:cNvPicPr>
          <p:nvPr/>
        </p:nvPicPr>
        <p:blipFill>
          <a:blip r:embed="rId3"/>
          <a:stretch>
            <a:fillRect/>
          </a:stretch>
        </p:blipFill>
        <p:spPr>
          <a:xfrm>
            <a:off x="10693186" y="264722"/>
            <a:ext cx="1182169" cy="838082"/>
          </a:xfrm>
          <a:prstGeom prst="rect">
            <a:avLst/>
          </a:prstGeom>
          <a:ln w="12700">
            <a:miter lim="400000"/>
          </a:ln>
        </p:spPr>
      </p:pic>
      <p:pic>
        <p:nvPicPr>
          <p:cNvPr id="31" name="Imagen"/>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498438" y="6031230"/>
            <a:ext cx="2465083" cy="634991"/>
          </a:xfrm>
          <a:prstGeom prst="rect">
            <a:avLst/>
          </a:prstGeom>
          <a:ln w="12700">
            <a:miter lim="400000"/>
          </a:ln>
        </p:spPr>
      </p:pic>
      <p:sp>
        <p:nvSpPr>
          <p:cNvPr id="32"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_1">
    <p:bg>
      <p:bgPr>
        <a:solidFill>
          <a:srgbClr val="FFFFFF"/>
        </a:solidFill>
        <a:effectLst/>
      </p:bgPr>
    </p:bg>
    <p:spTree>
      <p:nvGrpSpPr>
        <p:cNvPr id="1" name=""/>
        <p:cNvGrpSpPr/>
        <p:nvPr/>
      </p:nvGrpSpPr>
      <p:grpSpPr>
        <a:xfrm>
          <a:off x="0" y="0"/>
          <a:ext cx="0" cy="0"/>
          <a:chOff x="0" y="0"/>
          <a:chExt cx="0" cy="0"/>
        </a:xfrm>
      </p:grpSpPr>
      <p:pic>
        <p:nvPicPr>
          <p:cNvPr id="39" name="Google Shape;22;p25" descr="Google Shape;22;p25"/>
          <p:cNvPicPr>
            <a:picLocks noChangeAspect="1"/>
          </p:cNvPicPr>
          <p:nvPr/>
        </p:nvPicPr>
        <p:blipFill>
          <a:blip r:embed="rId2"/>
          <a:srcRect l="317" r="326"/>
          <a:stretch>
            <a:fillRect/>
          </a:stretch>
        </p:blipFill>
        <p:spPr>
          <a:xfrm>
            <a:off x="-17725" y="-57501"/>
            <a:ext cx="12294398" cy="6960350"/>
          </a:xfrm>
          <a:prstGeom prst="rect">
            <a:avLst/>
          </a:prstGeom>
          <a:ln w="12700">
            <a:miter lim="400000"/>
          </a:ln>
        </p:spPr>
      </p:pic>
      <p:sp>
        <p:nvSpPr>
          <p:cNvPr id="40" name="Texto del título"/>
          <p:cNvSpPr txBox="1">
            <a:spLocks noGrp="1"/>
          </p:cNvSpPr>
          <p:nvPr>
            <p:ph type="title"/>
          </p:nvPr>
        </p:nvSpPr>
        <p:spPr>
          <a:xfrm>
            <a:off x="1151626" y="2920893"/>
            <a:ext cx="5063401" cy="1783801"/>
          </a:xfrm>
          <a:prstGeom prst="rect">
            <a:avLst/>
          </a:prstGeom>
        </p:spPr>
        <p:txBody>
          <a:bodyPr anchor="b"/>
          <a:lstStyle>
            <a:lvl1pPr algn="l">
              <a:defRPr sz="3300">
                <a:solidFill>
                  <a:srgbClr val="FFFFFF"/>
                </a:solidFill>
              </a:defRPr>
            </a:lvl1pPr>
          </a:lstStyle>
          <a:p>
            <a:r>
              <a:t>Texto del título</a:t>
            </a:r>
          </a:p>
        </p:txBody>
      </p:sp>
      <p:pic>
        <p:nvPicPr>
          <p:cNvPr id="41" name="Google Shape;24;p25" descr="Google Shape;24;p25"/>
          <p:cNvPicPr>
            <a:picLocks noChangeAspect="1"/>
          </p:cNvPicPr>
          <p:nvPr/>
        </p:nvPicPr>
        <p:blipFill>
          <a:blip r:embed="rId3"/>
          <a:stretch>
            <a:fillRect/>
          </a:stretch>
        </p:blipFill>
        <p:spPr>
          <a:xfrm>
            <a:off x="16932" y="4992084"/>
            <a:ext cx="12192001" cy="1649017"/>
          </a:xfrm>
          <a:prstGeom prst="rect">
            <a:avLst/>
          </a:prstGeom>
          <a:ln w="12700">
            <a:miter lim="400000"/>
          </a:ln>
        </p:spPr>
      </p:pic>
      <p:sp>
        <p:nvSpPr>
          <p:cNvPr id="42"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LE_ONLY">
    <p:bg>
      <p:bgPr>
        <a:solidFill>
          <a:srgbClr val="FFFFFF"/>
        </a:solidFill>
        <a:effectLst/>
      </p:bgPr>
    </p:bg>
    <p:spTree>
      <p:nvGrpSpPr>
        <p:cNvPr id="1" name=""/>
        <p:cNvGrpSpPr/>
        <p:nvPr/>
      </p:nvGrpSpPr>
      <p:grpSpPr>
        <a:xfrm>
          <a:off x="0" y="0"/>
          <a:ext cx="0" cy="0"/>
          <a:chOff x="0" y="0"/>
          <a:chExt cx="0" cy="0"/>
        </a:xfrm>
      </p:grpSpPr>
      <p:pic>
        <p:nvPicPr>
          <p:cNvPr id="119" name="Google Shape;54;p26" descr="Google Shape;54;p26"/>
          <p:cNvPicPr>
            <a:picLocks noChangeAspect="1"/>
          </p:cNvPicPr>
          <p:nvPr/>
        </p:nvPicPr>
        <p:blipFill>
          <a:blip r:embed="rId2"/>
          <a:stretch>
            <a:fillRect/>
          </a:stretch>
        </p:blipFill>
        <p:spPr>
          <a:xfrm>
            <a:off x="0" y="-10"/>
            <a:ext cx="12192000" cy="1684734"/>
          </a:xfrm>
          <a:prstGeom prst="rect">
            <a:avLst/>
          </a:prstGeom>
          <a:ln w="12700">
            <a:miter lim="400000"/>
          </a:ln>
        </p:spPr>
      </p:pic>
      <p:sp>
        <p:nvSpPr>
          <p:cNvPr id="120" name="Texto del título"/>
          <p:cNvSpPr txBox="1">
            <a:spLocks noGrp="1"/>
          </p:cNvSpPr>
          <p:nvPr>
            <p:ph type="title"/>
          </p:nvPr>
        </p:nvSpPr>
        <p:spPr>
          <a:xfrm>
            <a:off x="4779050" y="225608"/>
            <a:ext cx="6630001" cy="1063501"/>
          </a:xfrm>
          <a:prstGeom prst="rect">
            <a:avLst/>
          </a:prstGeom>
        </p:spPr>
        <p:txBody>
          <a:bodyPr/>
          <a:lstStyle>
            <a:lvl1pPr algn="r">
              <a:defRPr>
                <a:solidFill>
                  <a:srgbClr val="FFFFFF"/>
                </a:solidFill>
                <a:latin typeface="Montserrat SemiBold"/>
                <a:ea typeface="Montserrat SemiBold"/>
                <a:cs typeface="Montserrat SemiBold"/>
                <a:sym typeface="Montserrat SemiBold"/>
              </a:defRPr>
            </a:lvl1pPr>
          </a:lstStyle>
          <a:p>
            <a:r>
              <a:t>Texto del título</a:t>
            </a:r>
          </a:p>
        </p:txBody>
      </p:sp>
      <p:sp>
        <p:nvSpPr>
          <p:cNvPr id="121" name="Nivel de texto 1…"/>
          <p:cNvSpPr txBox="1">
            <a:spLocks noGrp="1"/>
          </p:cNvSpPr>
          <p:nvPr>
            <p:ph type="body" idx="1"/>
          </p:nvPr>
        </p:nvSpPr>
        <p:spPr>
          <a:xfrm>
            <a:off x="838200" y="1981200"/>
            <a:ext cx="10515600" cy="3979201"/>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pic>
        <p:nvPicPr>
          <p:cNvPr id="122" name="Imagen"/>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498438" y="6023610"/>
            <a:ext cx="2494664" cy="642611"/>
          </a:xfrm>
          <a:prstGeom prst="rect">
            <a:avLst/>
          </a:prstGeom>
          <a:ln w="12700">
            <a:miter lim="400000"/>
          </a:ln>
        </p:spPr>
      </p:pic>
      <p:sp>
        <p:nvSpPr>
          <p:cNvPr id="12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iseño personalizado">
    <p:bg>
      <p:bgPr>
        <a:solidFill>
          <a:srgbClr val="FFFFFF"/>
        </a:solidFill>
        <a:effectLst/>
      </p:bgPr>
    </p:bg>
    <p:spTree>
      <p:nvGrpSpPr>
        <p:cNvPr id="1" name=""/>
        <p:cNvGrpSpPr/>
        <p:nvPr/>
      </p:nvGrpSpPr>
      <p:grpSpPr>
        <a:xfrm>
          <a:off x="0" y="0"/>
          <a:ext cx="0" cy="0"/>
          <a:chOff x="0" y="0"/>
          <a:chExt cx="0" cy="0"/>
        </a:xfrm>
      </p:grpSpPr>
      <p:sp>
        <p:nvSpPr>
          <p:cNvPr id="148" name="Número de diapositiva"/>
          <p:cNvSpPr txBox="1">
            <a:spLocks noGrp="1"/>
          </p:cNvSpPr>
          <p:nvPr>
            <p:ph type="sldNum" sz="quarter" idx="2"/>
          </p:nvPr>
        </p:nvSpPr>
        <p:spPr>
          <a:xfrm>
            <a:off x="11755748" y="6333133"/>
            <a:ext cx="384997" cy="373351"/>
          </a:xfrm>
          <a:prstGeom prst="rect">
            <a:avLst/>
          </a:prstGeom>
        </p:spPr>
        <p:txBody>
          <a:bodyPr/>
          <a:lstStyle>
            <a:lvl1pPr>
              <a:defRPr>
                <a:solidFill>
                  <a:srgbClr val="FFFFFF"/>
                </a:solidFill>
              </a:defRPr>
            </a:lvl1pPr>
          </a:lstStyle>
          <a:p>
            <a:fld id="{86CB4B4D-7CA3-9044-876B-883B54F8677D}" type="slidenum">
              <a:t>‹Nº›</a:t>
            </a:fld>
            <a:endParaRPr/>
          </a:p>
        </p:txBody>
      </p:sp>
      <p:pic>
        <p:nvPicPr>
          <p:cNvPr id="149" name="Google Shape;70;p29" descr="Google Shape;70;p29"/>
          <p:cNvPicPr>
            <a:picLocks noChangeAspect="1"/>
          </p:cNvPicPr>
          <p:nvPr/>
        </p:nvPicPr>
        <p:blipFill>
          <a:blip r:embed="rId2"/>
          <a:srcRect t="19015"/>
          <a:stretch>
            <a:fillRect/>
          </a:stretch>
        </p:blipFill>
        <p:spPr>
          <a:xfrm>
            <a:off x="0" y="1303998"/>
            <a:ext cx="12192000" cy="5554126"/>
          </a:xfrm>
          <a:prstGeom prst="rect">
            <a:avLst/>
          </a:prstGeom>
          <a:ln w="12700">
            <a:miter lim="400000"/>
          </a:ln>
        </p:spPr>
      </p:pic>
      <p:sp>
        <p:nvSpPr>
          <p:cNvPr id="150" name="Texto del título"/>
          <p:cNvSpPr txBox="1">
            <a:spLocks noGrp="1"/>
          </p:cNvSpPr>
          <p:nvPr>
            <p:ph type="title"/>
          </p:nvPr>
        </p:nvSpPr>
        <p:spPr>
          <a:xfrm>
            <a:off x="3692261" y="2295486"/>
            <a:ext cx="4807501" cy="1783801"/>
          </a:xfrm>
          <a:prstGeom prst="rect">
            <a:avLst/>
          </a:prstGeom>
        </p:spPr>
        <p:txBody>
          <a:bodyPr anchor="b"/>
          <a:lstStyle>
            <a:lvl1pPr>
              <a:defRPr sz="2600">
                <a:solidFill>
                  <a:srgbClr val="FFFFFF"/>
                </a:solidFill>
              </a:defRPr>
            </a:lvl1pPr>
          </a:lstStyle>
          <a:p>
            <a:r>
              <a:t>Texto del título</a:t>
            </a:r>
          </a:p>
        </p:txBody>
      </p:sp>
      <p:pic>
        <p:nvPicPr>
          <p:cNvPr id="151" name="Google Shape;72;p29" descr="Google Shape;72;p29"/>
          <p:cNvPicPr>
            <a:picLocks noChangeAspect="1"/>
          </p:cNvPicPr>
          <p:nvPr/>
        </p:nvPicPr>
        <p:blipFill>
          <a:blip r:embed="rId3"/>
          <a:stretch>
            <a:fillRect/>
          </a:stretch>
        </p:blipFill>
        <p:spPr>
          <a:xfrm>
            <a:off x="3429000" y="197724"/>
            <a:ext cx="5173125" cy="889126"/>
          </a:xfrm>
          <a:prstGeom prst="rect">
            <a:avLst/>
          </a:prstGeom>
          <a:ln w="12700">
            <a:miter lim="400000"/>
          </a:ln>
        </p:spPr>
      </p:pic>
      <p:pic>
        <p:nvPicPr>
          <p:cNvPr id="152" name="Google Shape;73;p29" descr="Google Shape;73;p29"/>
          <p:cNvPicPr>
            <a:picLocks noChangeAspect="1"/>
          </p:cNvPicPr>
          <p:nvPr/>
        </p:nvPicPr>
        <p:blipFill>
          <a:blip r:embed="rId4"/>
          <a:srcRect b="72137"/>
          <a:stretch>
            <a:fillRect/>
          </a:stretch>
        </p:blipFill>
        <p:spPr>
          <a:xfrm rot="5400000">
            <a:off x="-852413" y="4770337"/>
            <a:ext cx="2349451" cy="895226"/>
          </a:xfrm>
          <a:prstGeom prst="rect">
            <a:avLst/>
          </a:prstGeom>
          <a:ln w="12700">
            <a:miter lim="400000"/>
          </a:ln>
        </p:spPr>
      </p:pic>
      <p:pic>
        <p:nvPicPr>
          <p:cNvPr id="153" name="Google Shape;74;p29" descr="Google Shape;74;p29"/>
          <p:cNvPicPr>
            <a:picLocks noChangeAspect="1"/>
          </p:cNvPicPr>
          <p:nvPr/>
        </p:nvPicPr>
        <p:blipFill>
          <a:blip r:embed="rId5"/>
          <a:stretch>
            <a:fillRect/>
          </a:stretch>
        </p:blipFill>
        <p:spPr>
          <a:xfrm>
            <a:off x="4072592" y="5066248"/>
            <a:ext cx="3885927" cy="1414151"/>
          </a:xfrm>
          <a:prstGeom prst="rect">
            <a:avLst/>
          </a:prstGeom>
          <a:ln w="12700">
            <a:miter lim="400000"/>
          </a:ln>
        </p:spPr>
      </p:pic>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92000">
              <a:srgbClr val="FFFFFF"/>
            </a:gs>
            <a:gs pos="100000">
              <a:srgbClr val="F2F2F2"/>
            </a:gs>
          </a:gsLst>
          <a:lin ang="16200000" scaled="0"/>
        </a:gradFill>
        <a:effectLst/>
      </p:bgPr>
    </p:bg>
    <p:spTree>
      <p:nvGrpSpPr>
        <p:cNvPr id="1" name=""/>
        <p:cNvGrpSpPr/>
        <p:nvPr/>
      </p:nvGrpSpPr>
      <p:grpSpPr>
        <a:xfrm>
          <a:off x="0" y="0"/>
          <a:ext cx="0" cy="0"/>
          <a:chOff x="0" y="0"/>
          <a:chExt cx="0" cy="0"/>
        </a:xfrm>
      </p:grpSpPr>
      <p:pic>
        <p:nvPicPr>
          <p:cNvPr id="2" name="Google Shape;64;p28" descr="Google Shape;64;p28"/>
          <p:cNvPicPr>
            <a:picLocks noChangeAspect="1"/>
          </p:cNvPicPr>
          <p:nvPr/>
        </p:nvPicPr>
        <p:blipFill>
          <a:blip r:embed="rId7">
            <a:alphaModFix amt="4000"/>
          </a:blip>
          <a:stretch>
            <a:fillRect/>
          </a:stretch>
        </p:blipFill>
        <p:spPr>
          <a:xfrm>
            <a:off x="6692027" y="-294006"/>
            <a:ext cx="7186101" cy="9827476"/>
          </a:xfrm>
          <a:prstGeom prst="rect">
            <a:avLst/>
          </a:prstGeom>
          <a:ln w="12700">
            <a:miter lim="400000"/>
          </a:ln>
        </p:spPr>
      </p:pic>
      <p:sp>
        <p:nvSpPr>
          <p:cNvPr id="3" name="Google Shape;65;p28"/>
          <p:cNvSpPr/>
          <p:nvPr/>
        </p:nvSpPr>
        <p:spPr>
          <a:xfrm>
            <a:off x="840150" y="6501300"/>
            <a:ext cx="8492242" cy="70083"/>
          </a:xfrm>
          <a:prstGeom prst="rect">
            <a:avLst/>
          </a:prstGeom>
          <a:solidFill>
            <a:schemeClr val="accent2"/>
          </a:solidFill>
          <a:ln w="12700">
            <a:miter lim="400000"/>
          </a:ln>
        </p:spPr>
        <p:txBody>
          <a:bodyPr lIns="0" tIns="0" rIns="0" bIns="0" anchor="ctr"/>
          <a:lstStyle/>
          <a:p>
            <a:endParaRPr/>
          </a:p>
        </p:txBody>
      </p:sp>
      <p:pic>
        <p:nvPicPr>
          <p:cNvPr id="4" name="Google Shape;67;p28" descr="Google Shape;67;p28"/>
          <p:cNvPicPr>
            <a:picLocks noChangeAspect="1"/>
          </p:cNvPicPr>
          <p:nvPr/>
        </p:nvPicPr>
        <p:blipFill>
          <a:blip r:embed="rId8"/>
          <a:stretch>
            <a:fillRect/>
          </a:stretch>
        </p:blipFill>
        <p:spPr>
          <a:xfrm>
            <a:off x="237049" y="6103349"/>
            <a:ext cx="401206" cy="548676"/>
          </a:xfrm>
          <a:prstGeom prst="rect">
            <a:avLst/>
          </a:prstGeom>
          <a:ln w="12700">
            <a:miter lim="400000"/>
          </a:ln>
        </p:spPr>
      </p:pic>
      <p:pic>
        <p:nvPicPr>
          <p:cNvPr id="5" name="Imagen"/>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9498438" y="6031345"/>
            <a:ext cx="2464636" cy="634876"/>
          </a:xfrm>
          <a:prstGeom prst="rect">
            <a:avLst/>
          </a:prstGeom>
          <a:ln w="12700">
            <a:miter lim="400000"/>
          </a:ln>
        </p:spPr>
      </p:pic>
      <p:sp>
        <p:nvSpPr>
          <p:cNvPr id="6" name="Texto del título"/>
          <p:cNvSpPr txBox="1">
            <a:spLocks noGrp="1"/>
          </p:cNvSpPr>
          <p:nvPr>
            <p:ph type="title"/>
          </p:nvPr>
        </p:nvSpPr>
        <p:spPr>
          <a:xfrm>
            <a:off x="609600" y="92074"/>
            <a:ext cx="10972800" cy="15081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p>
            <a:r>
              <a:t>Texto del título</a:t>
            </a:r>
          </a:p>
        </p:txBody>
      </p:sp>
      <p:sp>
        <p:nvSpPr>
          <p:cNvPr id="7" name="Nivel de texto 1…"/>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ormAutofit/>
          </a:bodyPr>
          <a:lstStyle/>
          <a:p>
            <a:r>
              <a:t>Nivel de texto 1</a:t>
            </a:r>
          </a:p>
          <a:p>
            <a:pPr lvl="1"/>
            <a:r>
              <a:t>Nivel de texto 2</a:t>
            </a:r>
          </a:p>
          <a:p>
            <a:pPr lvl="2"/>
            <a:r>
              <a:t>Nivel de texto 3</a:t>
            </a:r>
          </a:p>
          <a:p>
            <a:pPr lvl="3"/>
            <a:r>
              <a:t>Nivel de texto 4</a:t>
            </a:r>
          </a:p>
          <a:p>
            <a:pPr lvl="4"/>
            <a:r>
              <a:t>Nivel de texto 5</a:t>
            </a:r>
          </a:p>
        </p:txBody>
      </p:sp>
      <p:sp>
        <p:nvSpPr>
          <p:cNvPr id="8" name="Número de diapositiva"/>
          <p:cNvSpPr txBox="1">
            <a:spLocks noGrp="1"/>
          </p:cNvSpPr>
          <p:nvPr>
            <p:ph type="sldNum" sz="quarter" idx="2"/>
          </p:nvPr>
        </p:nvSpPr>
        <p:spPr>
          <a:xfrm>
            <a:off x="5892800" y="6356350"/>
            <a:ext cx="2844800" cy="373350"/>
          </a:xfrm>
          <a:prstGeom prst="rect">
            <a:avLst/>
          </a:prstGeom>
          <a:ln w="12700">
            <a:miter lim="400000"/>
          </a:ln>
        </p:spPr>
        <p:txBody>
          <a:bodyPr wrap="none" lIns="91424" tIns="91424" rIns="91424" bIns="91424">
            <a:spAutoFit/>
          </a:bodyPr>
          <a:lstStyle>
            <a:lvl1pPr algn="r">
              <a:defRPr sz="1300">
                <a:solidFill>
                  <a:srgbClr val="3F3F3F"/>
                </a:solidFill>
                <a:latin typeface="Roboto Bold"/>
                <a:ea typeface="Roboto Bold"/>
                <a:cs typeface="Roboto Bold"/>
                <a:sym typeface="Roboto Bold"/>
              </a:defRPr>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9" r:id="rId4"/>
    <p:sldLayoutId id="2147483662" r:id="rId5"/>
  </p:sldLayoutIdLst>
  <p:transition spd="med"/>
  <p:txStyles>
    <p:titleStyle>
      <a:lvl1pPr marL="0" marR="0" indent="0" algn="ctr" defTabSz="914400" rtl="0" latinLnBrk="0">
        <a:lnSpc>
          <a:spcPct val="90000"/>
        </a:lnSpc>
        <a:spcBef>
          <a:spcPts val="0"/>
        </a:spcBef>
        <a:spcAft>
          <a:spcPts val="0"/>
        </a:spcAft>
        <a:buClrTx/>
        <a:buSzTx/>
        <a:buFontTx/>
        <a:buNone/>
        <a:tabLst/>
        <a:defRPr sz="3600" b="0" i="0" u="none" strike="noStrike" cap="none" spc="0" baseline="0">
          <a:solidFill>
            <a:srgbClr val="3F3F3F"/>
          </a:solidFill>
          <a:uFillTx/>
          <a:latin typeface="Montserrat Bold"/>
          <a:ea typeface="Montserrat Bold"/>
          <a:cs typeface="Montserrat Bold"/>
          <a:sym typeface="Montserrat Bold"/>
        </a:defRPr>
      </a:lvl1pPr>
      <a:lvl2pPr marL="0" marR="0" indent="0" algn="ctr" defTabSz="914400" rtl="0" latinLnBrk="0">
        <a:lnSpc>
          <a:spcPct val="90000"/>
        </a:lnSpc>
        <a:spcBef>
          <a:spcPts val="0"/>
        </a:spcBef>
        <a:spcAft>
          <a:spcPts val="0"/>
        </a:spcAft>
        <a:buClrTx/>
        <a:buSzTx/>
        <a:buFontTx/>
        <a:buNone/>
        <a:tabLst/>
        <a:defRPr sz="3600" b="0" i="0" u="none" strike="noStrike" cap="none" spc="0" baseline="0">
          <a:solidFill>
            <a:srgbClr val="3F3F3F"/>
          </a:solidFill>
          <a:uFillTx/>
          <a:latin typeface="Montserrat Bold"/>
          <a:ea typeface="Montserrat Bold"/>
          <a:cs typeface="Montserrat Bold"/>
          <a:sym typeface="Montserrat Bold"/>
        </a:defRPr>
      </a:lvl2pPr>
      <a:lvl3pPr marL="0" marR="0" indent="0" algn="ctr" defTabSz="914400" rtl="0" latinLnBrk="0">
        <a:lnSpc>
          <a:spcPct val="90000"/>
        </a:lnSpc>
        <a:spcBef>
          <a:spcPts val="0"/>
        </a:spcBef>
        <a:spcAft>
          <a:spcPts val="0"/>
        </a:spcAft>
        <a:buClrTx/>
        <a:buSzTx/>
        <a:buFontTx/>
        <a:buNone/>
        <a:tabLst/>
        <a:defRPr sz="3600" b="0" i="0" u="none" strike="noStrike" cap="none" spc="0" baseline="0">
          <a:solidFill>
            <a:srgbClr val="3F3F3F"/>
          </a:solidFill>
          <a:uFillTx/>
          <a:latin typeface="Montserrat Bold"/>
          <a:ea typeface="Montserrat Bold"/>
          <a:cs typeface="Montserrat Bold"/>
          <a:sym typeface="Montserrat Bold"/>
        </a:defRPr>
      </a:lvl3pPr>
      <a:lvl4pPr marL="0" marR="0" indent="0" algn="ctr" defTabSz="914400" rtl="0" latinLnBrk="0">
        <a:lnSpc>
          <a:spcPct val="90000"/>
        </a:lnSpc>
        <a:spcBef>
          <a:spcPts val="0"/>
        </a:spcBef>
        <a:spcAft>
          <a:spcPts val="0"/>
        </a:spcAft>
        <a:buClrTx/>
        <a:buSzTx/>
        <a:buFontTx/>
        <a:buNone/>
        <a:tabLst/>
        <a:defRPr sz="3600" b="0" i="0" u="none" strike="noStrike" cap="none" spc="0" baseline="0">
          <a:solidFill>
            <a:srgbClr val="3F3F3F"/>
          </a:solidFill>
          <a:uFillTx/>
          <a:latin typeface="Montserrat Bold"/>
          <a:ea typeface="Montserrat Bold"/>
          <a:cs typeface="Montserrat Bold"/>
          <a:sym typeface="Montserrat Bold"/>
        </a:defRPr>
      </a:lvl4pPr>
      <a:lvl5pPr marL="0" marR="0" indent="0" algn="ctr" defTabSz="914400" rtl="0" latinLnBrk="0">
        <a:lnSpc>
          <a:spcPct val="90000"/>
        </a:lnSpc>
        <a:spcBef>
          <a:spcPts val="0"/>
        </a:spcBef>
        <a:spcAft>
          <a:spcPts val="0"/>
        </a:spcAft>
        <a:buClrTx/>
        <a:buSzTx/>
        <a:buFontTx/>
        <a:buNone/>
        <a:tabLst/>
        <a:defRPr sz="3600" b="0" i="0" u="none" strike="noStrike" cap="none" spc="0" baseline="0">
          <a:solidFill>
            <a:srgbClr val="3F3F3F"/>
          </a:solidFill>
          <a:uFillTx/>
          <a:latin typeface="Montserrat Bold"/>
          <a:ea typeface="Montserrat Bold"/>
          <a:cs typeface="Montserrat Bold"/>
          <a:sym typeface="Montserrat Bold"/>
        </a:defRPr>
      </a:lvl5pPr>
      <a:lvl6pPr marL="0" marR="0" indent="0" algn="ctr" defTabSz="914400" rtl="0" latinLnBrk="0">
        <a:lnSpc>
          <a:spcPct val="90000"/>
        </a:lnSpc>
        <a:spcBef>
          <a:spcPts val="0"/>
        </a:spcBef>
        <a:spcAft>
          <a:spcPts val="0"/>
        </a:spcAft>
        <a:buClrTx/>
        <a:buSzTx/>
        <a:buFontTx/>
        <a:buNone/>
        <a:tabLst/>
        <a:defRPr sz="3600" b="0" i="0" u="none" strike="noStrike" cap="none" spc="0" baseline="0">
          <a:solidFill>
            <a:srgbClr val="3F3F3F"/>
          </a:solidFill>
          <a:uFillTx/>
          <a:latin typeface="Montserrat Bold"/>
          <a:ea typeface="Montserrat Bold"/>
          <a:cs typeface="Montserrat Bold"/>
          <a:sym typeface="Montserrat Bold"/>
        </a:defRPr>
      </a:lvl6pPr>
      <a:lvl7pPr marL="0" marR="0" indent="0" algn="ctr" defTabSz="914400" rtl="0" latinLnBrk="0">
        <a:lnSpc>
          <a:spcPct val="90000"/>
        </a:lnSpc>
        <a:spcBef>
          <a:spcPts val="0"/>
        </a:spcBef>
        <a:spcAft>
          <a:spcPts val="0"/>
        </a:spcAft>
        <a:buClrTx/>
        <a:buSzTx/>
        <a:buFontTx/>
        <a:buNone/>
        <a:tabLst/>
        <a:defRPr sz="3600" b="0" i="0" u="none" strike="noStrike" cap="none" spc="0" baseline="0">
          <a:solidFill>
            <a:srgbClr val="3F3F3F"/>
          </a:solidFill>
          <a:uFillTx/>
          <a:latin typeface="Montserrat Bold"/>
          <a:ea typeface="Montserrat Bold"/>
          <a:cs typeface="Montserrat Bold"/>
          <a:sym typeface="Montserrat Bold"/>
        </a:defRPr>
      </a:lvl7pPr>
      <a:lvl8pPr marL="0" marR="0" indent="0" algn="ctr" defTabSz="914400" rtl="0" latinLnBrk="0">
        <a:lnSpc>
          <a:spcPct val="90000"/>
        </a:lnSpc>
        <a:spcBef>
          <a:spcPts val="0"/>
        </a:spcBef>
        <a:spcAft>
          <a:spcPts val="0"/>
        </a:spcAft>
        <a:buClrTx/>
        <a:buSzTx/>
        <a:buFontTx/>
        <a:buNone/>
        <a:tabLst/>
        <a:defRPr sz="3600" b="0" i="0" u="none" strike="noStrike" cap="none" spc="0" baseline="0">
          <a:solidFill>
            <a:srgbClr val="3F3F3F"/>
          </a:solidFill>
          <a:uFillTx/>
          <a:latin typeface="Montserrat Bold"/>
          <a:ea typeface="Montserrat Bold"/>
          <a:cs typeface="Montserrat Bold"/>
          <a:sym typeface="Montserrat Bold"/>
        </a:defRPr>
      </a:lvl8pPr>
      <a:lvl9pPr marL="0" marR="0" indent="0" algn="ctr" defTabSz="914400" rtl="0" latinLnBrk="0">
        <a:lnSpc>
          <a:spcPct val="90000"/>
        </a:lnSpc>
        <a:spcBef>
          <a:spcPts val="0"/>
        </a:spcBef>
        <a:spcAft>
          <a:spcPts val="0"/>
        </a:spcAft>
        <a:buClrTx/>
        <a:buSzTx/>
        <a:buFontTx/>
        <a:buNone/>
        <a:tabLst/>
        <a:defRPr sz="3600" b="0" i="0" u="none" strike="noStrike" cap="none" spc="0" baseline="0">
          <a:solidFill>
            <a:srgbClr val="3F3F3F"/>
          </a:solidFill>
          <a:uFillTx/>
          <a:latin typeface="Montserrat Bold"/>
          <a:ea typeface="Montserrat Bold"/>
          <a:cs typeface="Montserrat Bold"/>
          <a:sym typeface="Montserrat Bold"/>
        </a:defRPr>
      </a:lvl9pPr>
    </p:titleStyle>
    <p:bodyStyle>
      <a:lvl1pPr marL="457200" marR="0" indent="-406400" algn="l" defTabSz="914400" rtl="0" latinLnBrk="0">
        <a:lnSpc>
          <a:spcPct val="90000"/>
        </a:lnSpc>
        <a:spcBef>
          <a:spcPts val="1000"/>
        </a:spcBef>
        <a:spcAft>
          <a:spcPts val="0"/>
        </a:spcAft>
        <a:buClr>
          <a:srgbClr val="5A5A5F"/>
        </a:buClr>
        <a:buSzPts val="2800"/>
        <a:buFont typeface="Montserrat Regular"/>
        <a:buChar char="•"/>
        <a:tabLst/>
        <a:defRPr sz="2800" b="0" i="0" u="none" strike="noStrike" cap="none" spc="0" baseline="0">
          <a:solidFill>
            <a:srgbClr val="3F3F3F"/>
          </a:solidFill>
          <a:uFillTx/>
          <a:latin typeface="Montserrat Regular"/>
          <a:ea typeface="Montserrat Regular"/>
          <a:cs typeface="Montserrat Regular"/>
          <a:sym typeface="Montserrat Regular"/>
        </a:defRPr>
      </a:lvl1pPr>
      <a:lvl2pPr marL="977900" marR="0" indent="-444500" algn="l" defTabSz="914400" rtl="0" latinLnBrk="0">
        <a:lnSpc>
          <a:spcPct val="90000"/>
        </a:lnSpc>
        <a:spcBef>
          <a:spcPts val="1000"/>
        </a:spcBef>
        <a:spcAft>
          <a:spcPts val="0"/>
        </a:spcAft>
        <a:buClr>
          <a:srgbClr val="5A5A5F"/>
        </a:buClr>
        <a:buSzPts val="2800"/>
        <a:buFont typeface="Montserrat Regular"/>
        <a:buChar char="•"/>
        <a:tabLst/>
        <a:defRPr sz="2800" b="0" i="0" u="none" strike="noStrike" cap="none" spc="0" baseline="0">
          <a:solidFill>
            <a:srgbClr val="3F3F3F"/>
          </a:solidFill>
          <a:uFillTx/>
          <a:latin typeface="Montserrat Regular"/>
          <a:ea typeface="Montserrat Regular"/>
          <a:cs typeface="Montserrat Regular"/>
          <a:sym typeface="Montserrat Regular"/>
        </a:defRPr>
      </a:lvl2pPr>
      <a:lvl3pPr marL="1513839" marR="0" indent="-497839" algn="l" defTabSz="914400" rtl="0" latinLnBrk="0">
        <a:lnSpc>
          <a:spcPct val="90000"/>
        </a:lnSpc>
        <a:spcBef>
          <a:spcPts val="1000"/>
        </a:spcBef>
        <a:spcAft>
          <a:spcPts val="0"/>
        </a:spcAft>
        <a:buClr>
          <a:srgbClr val="5A5A5F"/>
        </a:buClr>
        <a:buSzPts val="2800"/>
        <a:buFont typeface="Montserrat Regular"/>
        <a:buChar char="•"/>
        <a:tabLst/>
        <a:defRPr sz="2800" b="0" i="0" u="none" strike="noStrike" cap="none" spc="0" baseline="0">
          <a:solidFill>
            <a:srgbClr val="3F3F3F"/>
          </a:solidFill>
          <a:uFillTx/>
          <a:latin typeface="Montserrat Regular"/>
          <a:ea typeface="Montserrat Regular"/>
          <a:cs typeface="Montserrat Regular"/>
          <a:sym typeface="Montserrat Regular"/>
        </a:defRPr>
      </a:lvl3pPr>
      <a:lvl4pPr marL="2019300" marR="0" indent="-533400" algn="l" defTabSz="914400" rtl="0" latinLnBrk="0">
        <a:lnSpc>
          <a:spcPct val="90000"/>
        </a:lnSpc>
        <a:spcBef>
          <a:spcPts val="1000"/>
        </a:spcBef>
        <a:spcAft>
          <a:spcPts val="0"/>
        </a:spcAft>
        <a:buClr>
          <a:srgbClr val="5A5A5F"/>
        </a:buClr>
        <a:buSzPts val="2800"/>
        <a:buFont typeface="Montserrat Regular"/>
        <a:buChar char="•"/>
        <a:tabLst/>
        <a:defRPr sz="2800" b="0" i="0" u="none" strike="noStrike" cap="none" spc="0" baseline="0">
          <a:solidFill>
            <a:srgbClr val="3F3F3F"/>
          </a:solidFill>
          <a:uFillTx/>
          <a:latin typeface="Montserrat Regular"/>
          <a:ea typeface="Montserrat Regular"/>
          <a:cs typeface="Montserrat Regular"/>
          <a:sym typeface="Montserrat Regular"/>
        </a:defRPr>
      </a:lvl4pPr>
      <a:lvl5pPr marL="2476500" marR="0" indent="-533400" algn="l" defTabSz="914400" rtl="0" latinLnBrk="0">
        <a:lnSpc>
          <a:spcPct val="90000"/>
        </a:lnSpc>
        <a:spcBef>
          <a:spcPts val="1000"/>
        </a:spcBef>
        <a:spcAft>
          <a:spcPts val="0"/>
        </a:spcAft>
        <a:buClr>
          <a:srgbClr val="5A5A5F"/>
        </a:buClr>
        <a:buSzPts val="2800"/>
        <a:buFont typeface="Montserrat Regular"/>
        <a:buChar char="•"/>
        <a:tabLst/>
        <a:defRPr sz="2800" b="0" i="0" u="none" strike="noStrike" cap="none" spc="0" baseline="0">
          <a:solidFill>
            <a:srgbClr val="3F3F3F"/>
          </a:solidFill>
          <a:uFillTx/>
          <a:latin typeface="Montserrat Regular"/>
          <a:ea typeface="Montserrat Regular"/>
          <a:cs typeface="Montserrat Regular"/>
          <a:sym typeface="Montserrat Regular"/>
        </a:defRPr>
      </a:lvl5pPr>
      <a:lvl6pPr marL="2933700" marR="0" indent="-533400" algn="l" defTabSz="914400" rtl="0" latinLnBrk="0">
        <a:lnSpc>
          <a:spcPct val="90000"/>
        </a:lnSpc>
        <a:spcBef>
          <a:spcPts val="1000"/>
        </a:spcBef>
        <a:spcAft>
          <a:spcPts val="0"/>
        </a:spcAft>
        <a:buClr>
          <a:srgbClr val="5A5A5F"/>
        </a:buClr>
        <a:buSzPts val="2800"/>
        <a:buFont typeface="Montserrat Regular"/>
        <a:buChar char="•"/>
        <a:tabLst/>
        <a:defRPr sz="2800" b="0" i="0" u="none" strike="noStrike" cap="none" spc="0" baseline="0">
          <a:solidFill>
            <a:srgbClr val="3F3F3F"/>
          </a:solidFill>
          <a:uFillTx/>
          <a:latin typeface="Montserrat Regular"/>
          <a:ea typeface="Montserrat Regular"/>
          <a:cs typeface="Montserrat Regular"/>
          <a:sym typeface="Montserrat Regular"/>
        </a:defRPr>
      </a:lvl6pPr>
      <a:lvl7pPr marL="3390900" marR="0" indent="-533400" algn="l" defTabSz="914400" rtl="0" latinLnBrk="0">
        <a:lnSpc>
          <a:spcPct val="90000"/>
        </a:lnSpc>
        <a:spcBef>
          <a:spcPts val="1000"/>
        </a:spcBef>
        <a:spcAft>
          <a:spcPts val="0"/>
        </a:spcAft>
        <a:buClr>
          <a:srgbClr val="5A5A5F"/>
        </a:buClr>
        <a:buSzPts val="2800"/>
        <a:buFont typeface="Montserrat Regular"/>
        <a:buChar char="•"/>
        <a:tabLst/>
        <a:defRPr sz="2800" b="0" i="0" u="none" strike="noStrike" cap="none" spc="0" baseline="0">
          <a:solidFill>
            <a:srgbClr val="3F3F3F"/>
          </a:solidFill>
          <a:uFillTx/>
          <a:latin typeface="Montserrat Regular"/>
          <a:ea typeface="Montserrat Regular"/>
          <a:cs typeface="Montserrat Regular"/>
          <a:sym typeface="Montserrat Regular"/>
        </a:defRPr>
      </a:lvl7pPr>
      <a:lvl8pPr marL="3848100" marR="0" indent="-533400" algn="l" defTabSz="914400" rtl="0" latinLnBrk="0">
        <a:lnSpc>
          <a:spcPct val="90000"/>
        </a:lnSpc>
        <a:spcBef>
          <a:spcPts val="1000"/>
        </a:spcBef>
        <a:spcAft>
          <a:spcPts val="0"/>
        </a:spcAft>
        <a:buClr>
          <a:srgbClr val="5A5A5F"/>
        </a:buClr>
        <a:buSzPts val="2800"/>
        <a:buFont typeface="Montserrat Regular"/>
        <a:buChar char="•"/>
        <a:tabLst/>
        <a:defRPr sz="2800" b="0" i="0" u="none" strike="noStrike" cap="none" spc="0" baseline="0">
          <a:solidFill>
            <a:srgbClr val="3F3F3F"/>
          </a:solidFill>
          <a:uFillTx/>
          <a:latin typeface="Montserrat Regular"/>
          <a:ea typeface="Montserrat Regular"/>
          <a:cs typeface="Montserrat Regular"/>
          <a:sym typeface="Montserrat Regular"/>
        </a:defRPr>
      </a:lvl8pPr>
      <a:lvl9pPr marL="4305300" marR="0" indent="-533400" algn="l" defTabSz="914400" rtl="0" latinLnBrk="0">
        <a:lnSpc>
          <a:spcPct val="90000"/>
        </a:lnSpc>
        <a:spcBef>
          <a:spcPts val="1000"/>
        </a:spcBef>
        <a:spcAft>
          <a:spcPts val="0"/>
        </a:spcAft>
        <a:buClr>
          <a:srgbClr val="5A5A5F"/>
        </a:buClr>
        <a:buSzPts val="2800"/>
        <a:buFont typeface="Montserrat Regular"/>
        <a:buChar char="•"/>
        <a:tabLst/>
        <a:defRPr sz="2800" b="0" i="0" u="none" strike="noStrike" cap="none" spc="0" baseline="0">
          <a:solidFill>
            <a:srgbClr val="3F3F3F"/>
          </a:solidFill>
          <a:uFillTx/>
          <a:latin typeface="Montserrat Regular"/>
          <a:ea typeface="Montserrat Regular"/>
          <a:cs typeface="Montserrat Regular"/>
          <a:sym typeface="Montserrat Regular"/>
        </a:defRPr>
      </a:lvl9pPr>
    </p:bodyStyle>
    <p:otherStyle>
      <a:lvl1pPr marL="0" marR="0" indent="0" algn="r" defTabSz="9144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Roboto Bold"/>
        </a:defRPr>
      </a:lvl1pPr>
      <a:lvl2pPr marL="0" marR="0" indent="0" algn="r" defTabSz="9144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Roboto Bold"/>
        </a:defRPr>
      </a:lvl2pPr>
      <a:lvl3pPr marL="0" marR="0" indent="0" algn="r" defTabSz="9144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Roboto Bold"/>
        </a:defRPr>
      </a:lvl3pPr>
      <a:lvl4pPr marL="0" marR="0" indent="0" algn="r" defTabSz="9144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Roboto Bold"/>
        </a:defRPr>
      </a:lvl4pPr>
      <a:lvl5pPr marL="0" marR="0" indent="0" algn="r" defTabSz="9144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Roboto Bold"/>
        </a:defRPr>
      </a:lvl5pPr>
      <a:lvl6pPr marL="0" marR="0" indent="0" algn="r" defTabSz="9144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Roboto Bold"/>
        </a:defRPr>
      </a:lvl6pPr>
      <a:lvl7pPr marL="0" marR="0" indent="0" algn="r" defTabSz="9144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Roboto Bold"/>
        </a:defRPr>
      </a:lvl7pPr>
      <a:lvl8pPr marL="0" marR="0" indent="0" algn="r" defTabSz="9144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Roboto Bold"/>
        </a:defRPr>
      </a:lvl8pPr>
      <a:lvl9pPr marL="0" marR="0" indent="0" algn="r" defTabSz="9144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Roboto Bold"/>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9.PNG"/><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Layout" Target="../diagrams/layout3.xml"/><Relationship Id="rId7" Type="http://schemas.openxmlformats.org/officeDocument/2006/relationships/image" Target="../media/image20.PNG"/><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Layout" Target="../diagrams/layout4.xml"/><Relationship Id="rId7" Type="http://schemas.openxmlformats.org/officeDocument/2006/relationships/image" Target="../media/image23.PNG"/><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 name="Google Shape;82;p1" descr="Google Shape;82;p1"/>
          <p:cNvPicPr>
            <a:picLocks noChangeAspect="1"/>
          </p:cNvPicPr>
          <p:nvPr/>
        </p:nvPicPr>
        <p:blipFill>
          <a:blip r:embed="rId2"/>
          <a:srcRect l="17122" t="11502" b="4661"/>
          <a:stretch>
            <a:fillRect/>
          </a:stretch>
        </p:blipFill>
        <p:spPr>
          <a:xfrm>
            <a:off x="-23524" y="0"/>
            <a:ext cx="7151253" cy="6858000"/>
          </a:xfrm>
          <a:prstGeom prst="rect">
            <a:avLst/>
          </a:prstGeom>
          <a:ln w="12700">
            <a:miter lim="400000"/>
          </a:ln>
        </p:spPr>
      </p:pic>
      <p:sp>
        <p:nvSpPr>
          <p:cNvPr id="163" name="Google Shape;80;p1"/>
          <p:cNvSpPr txBox="1">
            <a:spLocks noGrp="1"/>
          </p:cNvSpPr>
          <p:nvPr>
            <p:ph type="subTitle" sz="quarter" idx="1"/>
          </p:nvPr>
        </p:nvSpPr>
        <p:spPr>
          <a:xfrm>
            <a:off x="5308578" y="3248455"/>
            <a:ext cx="5839878" cy="2818608"/>
          </a:xfrm>
          <a:prstGeom prst="rect">
            <a:avLst/>
          </a:prstGeom>
        </p:spPr>
        <p:txBody>
          <a:bodyPr>
            <a:normAutofit fontScale="85000" lnSpcReduction="10000"/>
          </a:bodyPr>
          <a:lstStyle/>
          <a:p>
            <a:r>
              <a:rPr lang="es-CO" sz="1900" b="1" dirty="0"/>
              <a:t>Proyecto de grado – Fase 5</a:t>
            </a:r>
          </a:p>
          <a:p>
            <a:r>
              <a:rPr lang="es-CO" sz="1900" b="1" dirty="0"/>
              <a:t>Programa:</a:t>
            </a:r>
            <a:r>
              <a:rPr lang="es-CO" sz="1900" dirty="0"/>
              <a:t> Ingeniería de Sistemas</a:t>
            </a:r>
            <a:br>
              <a:rPr lang="es-CO" sz="1900" dirty="0"/>
            </a:br>
            <a:r>
              <a:rPr lang="es-CO" sz="1900" b="1" dirty="0"/>
              <a:t>Universidad Nacional Abierta y a Distancia – UNAD</a:t>
            </a:r>
            <a:endParaRPr lang="es-CO" sz="1900" dirty="0"/>
          </a:p>
          <a:p>
            <a:r>
              <a:rPr lang="es-CO" sz="1900" b="1" dirty="0"/>
              <a:t>Integrantes:</a:t>
            </a:r>
          </a:p>
          <a:p>
            <a:r>
              <a:rPr lang="es-CO" sz="1900" dirty="0"/>
              <a:t>Edilson Orlando Alvarado Méndez</a:t>
            </a:r>
          </a:p>
          <a:p>
            <a:r>
              <a:rPr lang="es-CO" sz="1900" dirty="0"/>
              <a:t>Juan José Arias Alba</a:t>
            </a:r>
          </a:p>
          <a:p>
            <a:endParaRPr lang="es-CO" sz="1900" dirty="0"/>
          </a:p>
          <a:p>
            <a:r>
              <a:rPr lang="es-CO" sz="1900" b="1" dirty="0"/>
              <a:t>Tutor:</a:t>
            </a:r>
            <a:r>
              <a:rPr lang="es-CO" sz="1900" dirty="0"/>
              <a:t> Daniel Andrés Guzmán</a:t>
            </a:r>
            <a:br>
              <a:rPr lang="es-CO" sz="1900" dirty="0"/>
            </a:br>
            <a:r>
              <a:rPr lang="es-CO" sz="1900" b="1" dirty="0"/>
              <a:t>Curso:</a:t>
            </a:r>
            <a:r>
              <a:rPr lang="es-CO" sz="1900" dirty="0"/>
              <a:t> Proyecto de Grado</a:t>
            </a:r>
            <a:br>
              <a:rPr lang="es-CO" sz="1900" dirty="0"/>
            </a:br>
            <a:r>
              <a:rPr lang="es-CO" sz="1900" b="1" dirty="0"/>
              <a:t>Fecha:</a:t>
            </a:r>
            <a:r>
              <a:rPr lang="es-CO" sz="1900" dirty="0"/>
              <a:t> 05/11/2025</a:t>
            </a:r>
          </a:p>
          <a:p>
            <a:pPr marL="0" indent="0"/>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7BECE-0652-4107-D097-C63B26B0F210}"/>
            </a:ext>
          </a:extLst>
        </p:cNvPr>
        <p:cNvGrpSpPr/>
        <p:nvPr/>
      </p:nvGrpSpPr>
      <p:grpSpPr>
        <a:xfrm>
          <a:off x="0" y="0"/>
          <a:ext cx="0" cy="0"/>
          <a:chOff x="0" y="0"/>
          <a:chExt cx="0" cy="0"/>
        </a:xfrm>
      </p:grpSpPr>
      <p:sp>
        <p:nvSpPr>
          <p:cNvPr id="167" name="Google Shape;87;p2">
            <a:extLst>
              <a:ext uri="{FF2B5EF4-FFF2-40B4-BE49-F238E27FC236}">
                <a16:creationId xmlns:a16="http://schemas.microsoft.com/office/drawing/2014/main" id="{4A5E7E49-13DC-A6FE-B070-4DC2B8544BCE}"/>
              </a:ext>
            </a:extLst>
          </p:cNvPr>
          <p:cNvSpPr txBox="1">
            <a:spLocks noGrp="1"/>
          </p:cNvSpPr>
          <p:nvPr>
            <p:ph type="title"/>
          </p:nvPr>
        </p:nvSpPr>
        <p:spPr>
          <a:xfrm>
            <a:off x="2053810" y="346045"/>
            <a:ext cx="6339902" cy="1294200"/>
          </a:xfrm>
          <a:prstGeom prst="rect">
            <a:avLst/>
          </a:prstGeom>
        </p:spPr>
        <p:txBody>
          <a:bodyPr/>
          <a:lstStyle/>
          <a:p>
            <a:r>
              <a:rPr lang="es-MX" dirty="0"/>
              <a:t>Contexto del problema y línea de investigación</a:t>
            </a:r>
            <a:endParaRPr dirty="0"/>
          </a:p>
        </p:txBody>
      </p:sp>
      <p:sp>
        <p:nvSpPr>
          <p:cNvPr id="2" name="Text Placeholder 1">
            <a:extLst>
              <a:ext uri="{FF2B5EF4-FFF2-40B4-BE49-F238E27FC236}">
                <a16:creationId xmlns:a16="http://schemas.microsoft.com/office/drawing/2014/main" id="{39A29857-24DE-0F59-A08C-E1E55096E993}"/>
              </a:ext>
            </a:extLst>
          </p:cNvPr>
          <p:cNvSpPr>
            <a:spLocks noGrp="1" noChangeArrowheads="1"/>
          </p:cNvSpPr>
          <p:nvPr>
            <p:ph type="body" sz="half" idx="1"/>
          </p:nvPr>
        </p:nvSpPr>
        <p:spPr bwMode="auto">
          <a:xfrm>
            <a:off x="2698231" y="2554462"/>
            <a:ext cx="8655570" cy="274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ES" sz="1800" dirty="0"/>
              <a:t>Las infraestructuras de red en zonas urbanas y rurales presentan alta latencia, congestión de tráfico y baja escalabilidad. El rápido crecimiento tecnológico, la demanda de servicios digitales y la falta de planificación adecuada generan deficiencias que afectan servicios esenciales como educación, salud y comunicaciones. Estas limitaciones amplían la brecha digital especialmente en áreas rurales.</a:t>
            </a:r>
          </a:p>
          <a:p>
            <a:r>
              <a:rPr lang="es-ES" sz="1800" dirty="0"/>
              <a:t>El proyecto se articula con la línea de transformación digital e infraestructura tecnológica, enfocada en la optimización de redes mediante tecnologías avanzadas y simulación educativa.</a:t>
            </a:r>
          </a:p>
          <a:p>
            <a:pPr marL="285750" indent="-285750" eaLnBrk="0" fontAlgn="base" hangingPunct="0">
              <a:lnSpc>
                <a:spcPct val="100000"/>
              </a:lnSpc>
              <a:spcBef>
                <a:spcPct val="0"/>
              </a:spcBef>
              <a:spcAft>
                <a:spcPct val="0"/>
              </a:spcAft>
              <a:buClrTx/>
              <a:buSzTx/>
            </a:pPr>
            <a:endParaRPr kumimoji="0" lang="es-CO" altLang="es-CO" sz="1800" i="0" u="none" strike="noStrike" cap="none" normalizeH="0" baseline="0" dirty="0">
              <a:ln>
                <a:noFill/>
              </a:ln>
              <a:solidFill>
                <a:schemeClr val="tx1"/>
              </a:solidFill>
              <a:effectLst/>
              <a:latin typeface="Montserrat Regular" panose="00000500000000000000" pitchFamily="2" charset="0"/>
            </a:endParaRPr>
          </a:p>
        </p:txBody>
      </p:sp>
    </p:spTree>
    <p:extLst>
      <p:ext uri="{BB962C8B-B14F-4D97-AF65-F5344CB8AC3E}">
        <p14:creationId xmlns:p14="http://schemas.microsoft.com/office/powerpoint/2010/main" val="260814288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Google Shape;87;p2"/>
          <p:cNvSpPr txBox="1">
            <a:spLocks noGrp="1"/>
          </p:cNvSpPr>
          <p:nvPr>
            <p:ph type="title"/>
          </p:nvPr>
        </p:nvSpPr>
        <p:spPr>
          <a:xfrm>
            <a:off x="2758348" y="365125"/>
            <a:ext cx="6339902" cy="1294200"/>
          </a:xfrm>
          <a:prstGeom prst="rect">
            <a:avLst/>
          </a:prstGeom>
        </p:spPr>
        <p:txBody>
          <a:bodyPr/>
          <a:lstStyle/>
          <a:p>
            <a:r>
              <a:rPr lang="es-CO" dirty="0"/>
              <a:t>Planteamiento del problema</a:t>
            </a:r>
            <a:endParaRPr dirty="0"/>
          </a:p>
        </p:txBody>
      </p:sp>
      <p:sp>
        <p:nvSpPr>
          <p:cNvPr id="168" name="Google Shape;88;p2"/>
          <p:cNvSpPr txBox="1">
            <a:spLocks noGrp="1"/>
          </p:cNvSpPr>
          <p:nvPr>
            <p:ph type="body" sz="half" idx="1"/>
          </p:nvPr>
        </p:nvSpPr>
        <p:spPr>
          <a:xfrm>
            <a:off x="2488524" y="1943992"/>
            <a:ext cx="8824744" cy="4203889"/>
          </a:xfrm>
          <a:prstGeom prst="rect">
            <a:avLst/>
          </a:prstGeom>
        </p:spPr>
        <p:txBody>
          <a:bodyPr>
            <a:normAutofit fontScale="62500" lnSpcReduction="20000"/>
          </a:bodyPr>
          <a:lstStyle/>
          <a:p>
            <a:pPr marL="0" indent="0" eaLnBrk="0" fontAlgn="base" hangingPunct="0">
              <a:lnSpc>
                <a:spcPct val="100000"/>
              </a:lnSpc>
              <a:spcBef>
                <a:spcPct val="0"/>
              </a:spcBef>
              <a:spcAft>
                <a:spcPct val="0"/>
              </a:spcAft>
              <a:buClrTx/>
              <a:buSzTx/>
              <a:buNone/>
            </a:pPr>
            <a:r>
              <a:rPr lang="es-CO" altLang="es-CO" sz="2200" b="1" dirty="0">
                <a:solidFill>
                  <a:schemeClr val="tx1"/>
                </a:solidFill>
                <a:latin typeface="Montserrat Regular" panose="00000500000000000000" pitchFamily="2" charset="0"/>
              </a:rPr>
              <a:t>Problema central:</a:t>
            </a:r>
          </a:p>
          <a:p>
            <a:pPr marL="0" indent="0" eaLnBrk="0" fontAlgn="base" hangingPunct="0">
              <a:lnSpc>
                <a:spcPct val="100000"/>
              </a:lnSpc>
              <a:spcBef>
                <a:spcPct val="0"/>
              </a:spcBef>
              <a:spcAft>
                <a:spcPct val="0"/>
              </a:spcAft>
              <a:buClrTx/>
              <a:buSzTx/>
              <a:buNone/>
            </a:pPr>
            <a:br>
              <a:rPr lang="es-CO" altLang="es-CO" sz="2200" dirty="0">
                <a:solidFill>
                  <a:schemeClr val="tx1"/>
                </a:solidFill>
                <a:latin typeface="Montserrat Regular" panose="00000500000000000000" pitchFamily="2" charset="0"/>
              </a:rPr>
            </a:br>
            <a:r>
              <a:rPr lang="es-ES" sz="2200" dirty="0"/>
              <a:t>Las redes actuales presentan alta congestión, latencia elevada y pérdida de paquetes, debido al crecimiento acelerado de usuarios y dispositivos, junto con una infraestructura limitada y poco optimizada. La falta de segmentación de red y el uso inadecuado de protocolos de enrutamiento provocan un rendimiento deficiente y fallas en la comunicación entre las diferentes áreas de la infraestructura.</a:t>
            </a:r>
          </a:p>
          <a:p>
            <a:pPr marL="285750" indent="-285750" eaLnBrk="0" fontAlgn="base" hangingPunct="0">
              <a:lnSpc>
                <a:spcPct val="100000"/>
              </a:lnSpc>
              <a:spcBef>
                <a:spcPct val="0"/>
              </a:spcBef>
              <a:spcAft>
                <a:spcPct val="0"/>
              </a:spcAft>
              <a:buClrTx/>
              <a:buSzTx/>
            </a:pPr>
            <a:endParaRPr lang="es-ES" sz="2200" dirty="0"/>
          </a:p>
          <a:p>
            <a:pPr marL="0" indent="0" eaLnBrk="0" fontAlgn="base" hangingPunct="0">
              <a:lnSpc>
                <a:spcPct val="100000"/>
              </a:lnSpc>
              <a:spcBef>
                <a:spcPct val="0"/>
              </a:spcBef>
              <a:spcAft>
                <a:spcPct val="0"/>
              </a:spcAft>
              <a:buClrTx/>
              <a:buSzTx/>
              <a:buNone/>
            </a:pPr>
            <a:r>
              <a:rPr lang="es-CO" altLang="es-CO" sz="2200" b="1" dirty="0">
                <a:solidFill>
                  <a:schemeClr val="tx1"/>
                </a:solidFill>
                <a:latin typeface="Montserrat Regular" panose="00000500000000000000" pitchFamily="2" charset="0"/>
              </a:rPr>
              <a:t>Causas principales:</a:t>
            </a:r>
          </a:p>
          <a:p>
            <a:pPr marL="285750" indent="-285750" eaLnBrk="0" fontAlgn="base" hangingPunct="0">
              <a:lnSpc>
                <a:spcPct val="100000"/>
              </a:lnSpc>
              <a:spcBef>
                <a:spcPct val="0"/>
              </a:spcBef>
              <a:spcAft>
                <a:spcPct val="0"/>
              </a:spcAft>
              <a:buClrTx/>
              <a:buSzTx/>
            </a:pPr>
            <a:endParaRPr lang="es-CO" altLang="es-CO" sz="2200" b="1" dirty="0">
              <a:solidFill>
                <a:schemeClr val="tx1"/>
              </a:solidFill>
              <a:latin typeface="Montserrat Regular" panose="00000500000000000000" pitchFamily="2" charset="0"/>
            </a:endParaRP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Infraestructura de red insuficiente y no planificada para el nivel actual de demanda.</a:t>
            </a: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Tráfico excesivo en un único dominio de broadcast por falta de segmentación mediante VLAN.</a:t>
            </a: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Enrutamiento ineficiente por ausencia de protocolos dinámicos adecuados como OSPF.</a:t>
            </a: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Crecimiento acelerado de dispositivos conectados sin ampliación proporcional de recursos.</a:t>
            </a: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Escasa gestión del tráfico, lo que genera saturación en enlaces y equipos.</a:t>
            </a:r>
          </a:p>
          <a:p>
            <a:pPr marL="0" indent="0" eaLnBrk="0" fontAlgn="base" hangingPunct="0">
              <a:lnSpc>
                <a:spcPct val="100000"/>
              </a:lnSpc>
              <a:spcBef>
                <a:spcPct val="0"/>
              </a:spcBef>
              <a:spcAft>
                <a:spcPct val="0"/>
              </a:spcAft>
              <a:buClrTx/>
              <a:buSzTx/>
              <a:buNone/>
            </a:pPr>
            <a:endParaRPr lang="es-CO" altLang="es-CO" sz="2200" dirty="0">
              <a:solidFill>
                <a:schemeClr val="tx1"/>
              </a:solidFill>
              <a:latin typeface="Montserrat Regular" panose="00000500000000000000" pitchFamily="2" charset="0"/>
            </a:endParaRPr>
          </a:p>
          <a:p>
            <a:pPr marL="0" indent="0" eaLnBrk="0" fontAlgn="base" hangingPunct="0">
              <a:lnSpc>
                <a:spcPct val="100000"/>
              </a:lnSpc>
              <a:spcBef>
                <a:spcPct val="0"/>
              </a:spcBef>
              <a:spcAft>
                <a:spcPct val="0"/>
              </a:spcAft>
              <a:buClrTx/>
              <a:buSzTx/>
              <a:buNone/>
            </a:pPr>
            <a:r>
              <a:rPr lang="es-CO" altLang="es-CO" sz="2200" b="1" dirty="0">
                <a:solidFill>
                  <a:schemeClr val="tx1"/>
                </a:solidFill>
                <a:latin typeface="Montserrat Regular" panose="00000500000000000000" pitchFamily="2" charset="0"/>
              </a:rPr>
              <a:t>Consecuencias:</a:t>
            </a:r>
          </a:p>
          <a:p>
            <a:pPr marL="0" indent="0" eaLnBrk="0" fontAlgn="base" hangingPunct="0">
              <a:lnSpc>
                <a:spcPct val="100000"/>
              </a:lnSpc>
              <a:spcBef>
                <a:spcPct val="0"/>
              </a:spcBef>
              <a:spcAft>
                <a:spcPct val="0"/>
              </a:spcAft>
              <a:buClrTx/>
              <a:buSzTx/>
              <a:buNone/>
            </a:pPr>
            <a:endParaRPr lang="es-CO" altLang="es-CO" sz="2200" dirty="0">
              <a:solidFill>
                <a:schemeClr val="tx1"/>
              </a:solidFill>
              <a:latin typeface="Montserrat Regular" panose="00000500000000000000" pitchFamily="2" charset="0"/>
            </a:endParaRP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Alta latencia, lentitud y pérdida de datos en la comunicación interna.</a:t>
            </a: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Interrupciones en servicios esenciales (educativos, administrativos, institucionales).</a:t>
            </a: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Disminución del rendimiento general de la red y baja disponibilidad.</a:t>
            </a: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Dificultad para escalar la red ante nuevas necesidades tecnológicas.</a:t>
            </a:r>
          </a:p>
          <a:p>
            <a:pPr marL="0" lvl="0" indent="0" eaLnBrk="0" fontAlgn="base" hangingPunct="0">
              <a:lnSpc>
                <a:spcPct val="100000"/>
              </a:lnSpc>
              <a:spcBef>
                <a:spcPct val="0"/>
              </a:spcBef>
              <a:spcAft>
                <a:spcPct val="0"/>
              </a:spcAft>
              <a:buClrTx/>
              <a:buSzTx/>
              <a:buNone/>
            </a:pPr>
            <a:r>
              <a:rPr lang="es-CO" altLang="es-CO" sz="2200" dirty="0">
                <a:solidFill>
                  <a:schemeClr val="tx1"/>
                </a:solidFill>
                <a:latin typeface="Montserrat Regular" panose="00000500000000000000" pitchFamily="2" charset="0"/>
              </a:rPr>
              <a:t>Limitaciones para garantizar una infraestructura estable y segura.</a:t>
            </a:r>
          </a:p>
          <a:p>
            <a:pPr marL="0" indent="0" eaLnBrk="0" fontAlgn="base" hangingPunct="0">
              <a:lnSpc>
                <a:spcPct val="100000"/>
              </a:lnSpc>
              <a:spcBef>
                <a:spcPct val="0"/>
              </a:spcBef>
              <a:spcAft>
                <a:spcPct val="0"/>
              </a:spcAft>
              <a:buClrTx/>
              <a:buSzTx/>
              <a:buNone/>
            </a:pPr>
            <a:endParaRPr lang="es-CO" altLang="es-CO" sz="1800" b="1" dirty="0">
              <a:solidFill>
                <a:schemeClr val="tx1"/>
              </a:solidFill>
              <a:latin typeface="Montserrat Regular" panose="00000500000000000000" pitchFamily="2" charset="0"/>
            </a:endParaRPr>
          </a:p>
          <a:p>
            <a:pPr marL="0" indent="0" eaLnBrk="0" fontAlgn="base" hangingPunct="0">
              <a:lnSpc>
                <a:spcPct val="100000"/>
              </a:lnSpc>
              <a:spcBef>
                <a:spcPct val="0"/>
              </a:spcBef>
              <a:spcAft>
                <a:spcPct val="0"/>
              </a:spcAft>
              <a:buClrTx/>
              <a:buSzTx/>
              <a:buNone/>
            </a:pPr>
            <a:endParaRPr lang="es-CO" altLang="es-CO" sz="1800" b="1" dirty="0">
              <a:solidFill>
                <a:schemeClr val="tx1"/>
              </a:solidFill>
              <a:latin typeface="Montserrat Regular" panose="00000500000000000000" pitchFamily="2" charset="0"/>
            </a:endParaRPr>
          </a:p>
          <a:p>
            <a:pPr marL="0" indent="0">
              <a:buSzTx/>
              <a:buNone/>
            </a:pPr>
            <a:endParaRPr sz="1800" dirty="0">
              <a:latin typeface="Montserrat Regular" panose="00000500000000000000" pitchFamily="2" charset="0"/>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Google Shape;133;p4"/>
          <p:cNvSpPr txBox="1">
            <a:spLocks noGrp="1"/>
          </p:cNvSpPr>
          <p:nvPr>
            <p:ph type="title"/>
          </p:nvPr>
        </p:nvSpPr>
        <p:spPr>
          <a:xfrm>
            <a:off x="4779050" y="225608"/>
            <a:ext cx="6630001" cy="1063501"/>
          </a:xfrm>
          <a:prstGeom prst="rect">
            <a:avLst/>
          </a:prstGeom>
        </p:spPr>
        <p:txBody>
          <a:bodyPr>
            <a:normAutofit fontScale="90000"/>
          </a:bodyPr>
          <a:lstStyle/>
          <a:p>
            <a:r>
              <a:rPr lang="es-MX" dirty="0"/>
              <a:t>Justificación y delimitación del proyecto</a:t>
            </a:r>
            <a:endParaRPr dirty="0"/>
          </a:p>
        </p:txBody>
      </p:sp>
      <p:sp>
        <p:nvSpPr>
          <p:cNvPr id="3" name="Text Placeholder 2">
            <a:extLst>
              <a:ext uri="{FF2B5EF4-FFF2-40B4-BE49-F238E27FC236}">
                <a16:creationId xmlns:a16="http://schemas.microsoft.com/office/drawing/2014/main" id="{1EA8E89E-BD6E-FF1F-20E8-777BB84FC06D}"/>
              </a:ext>
            </a:extLst>
          </p:cNvPr>
          <p:cNvSpPr>
            <a:spLocks noGrp="1" noChangeArrowheads="1"/>
          </p:cNvSpPr>
          <p:nvPr>
            <p:ph type="body" idx="1"/>
          </p:nvPr>
        </p:nvSpPr>
        <p:spPr bwMode="auto">
          <a:xfrm>
            <a:off x="763248" y="1834500"/>
            <a:ext cx="11428751" cy="4412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buNone/>
            </a:pPr>
            <a:r>
              <a:rPr kumimoji="0" lang="es-CO" altLang="es-CO" sz="1200" b="1" i="0" u="none" strike="noStrike" cap="none" normalizeH="0" baseline="0" dirty="0">
                <a:ln>
                  <a:noFill/>
                </a:ln>
                <a:solidFill>
                  <a:schemeClr val="tx1"/>
                </a:solidFill>
                <a:effectLst/>
                <a:latin typeface="Montserrat Regular" panose="00000500000000000000" pitchFamily="2" charset="0"/>
              </a:rPr>
              <a:t>Justificación académica:</a:t>
            </a:r>
          </a:p>
          <a:p>
            <a:pPr marL="0" indent="0" eaLnBrk="0" fontAlgn="base" hangingPunct="0">
              <a:lnSpc>
                <a:spcPct val="100000"/>
              </a:lnSpc>
              <a:spcBef>
                <a:spcPct val="0"/>
              </a:spcBef>
              <a:spcAft>
                <a:spcPct val="0"/>
              </a:spcAft>
              <a:buClrTx/>
              <a:buSzTx/>
              <a:buNone/>
            </a:pPr>
            <a:r>
              <a:rPr lang="es-ES" sz="1200" dirty="0"/>
              <a:t>El proyecto integra conocimientos fundamentales de la Ingeniería de Sistemas, especialmente en áreas de diseño de redes, enrutamiento, segmentación VLAN, protocolos dinámicos como OSPF y simulación de infraestructura. Permite aplicar principios de topologías, direccionamiento IP, seguridad básica y pruebas de conectividad, reforzando competencias teóricas y prácticas desarrolladas a lo largo del programa académico.</a:t>
            </a:r>
          </a:p>
          <a:p>
            <a:pPr marL="0" indent="0" eaLnBrk="0" fontAlgn="base" hangingPunct="0">
              <a:lnSpc>
                <a:spcPct val="100000"/>
              </a:lnSpc>
              <a:spcBef>
                <a:spcPct val="0"/>
              </a:spcBef>
              <a:spcAft>
                <a:spcPct val="0"/>
              </a:spcAft>
              <a:buClrTx/>
              <a:buSzTx/>
              <a:buNone/>
            </a:pPr>
            <a:endParaRPr lang="es-ES" sz="1200" dirty="0"/>
          </a:p>
          <a:p>
            <a:pPr marL="0" indent="0" eaLnBrk="0" fontAlgn="base" hangingPunct="0">
              <a:lnSpc>
                <a:spcPct val="100000"/>
              </a:lnSpc>
              <a:spcBef>
                <a:spcPct val="0"/>
              </a:spcBef>
              <a:spcAft>
                <a:spcPct val="0"/>
              </a:spcAft>
              <a:buClrTx/>
              <a:buSzTx/>
              <a:buNone/>
            </a:pPr>
            <a:r>
              <a:rPr kumimoji="0" lang="es-CO" altLang="es-CO" sz="1200" b="1" i="0" u="none" strike="noStrike" cap="none" normalizeH="0" baseline="0" dirty="0">
                <a:ln>
                  <a:noFill/>
                </a:ln>
                <a:solidFill>
                  <a:schemeClr val="tx1"/>
                </a:solidFill>
                <a:effectLst/>
                <a:latin typeface="Montserrat Regular" panose="00000500000000000000" pitchFamily="2" charset="0"/>
              </a:rPr>
              <a:t>Justificación social:</a:t>
            </a:r>
          </a:p>
          <a:p>
            <a:pPr marL="50800" indent="0">
              <a:buNone/>
            </a:pPr>
            <a:r>
              <a:rPr lang="es-ES" sz="1200" dirty="0">
                <a:solidFill>
                  <a:schemeClr val="tx1"/>
                </a:solidFill>
                <a:latin typeface="Montserrat Regular" panose="00000500000000000000" pitchFamily="2" charset="0"/>
              </a:rPr>
              <a:t>Una infraestructura de red eficiente mejora la calidad de servicios educativos, administrativos y comunitarios. Al optimizar la red mediante VLAN y OSPF se favorece la reducción de la congestión, la mejora en la comunicación y la disponibilidad de servicios, lo que aporta a cerrar la brecha digital en instituciones y comunidades que dependen de una conectividad estable.</a:t>
            </a:r>
          </a:p>
          <a:p>
            <a:pPr marL="0" indent="0" eaLnBrk="0" fontAlgn="base" hangingPunct="0">
              <a:lnSpc>
                <a:spcPct val="100000"/>
              </a:lnSpc>
              <a:spcBef>
                <a:spcPct val="0"/>
              </a:spcBef>
              <a:spcAft>
                <a:spcPct val="0"/>
              </a:spcAft>
              <a:buClrTx/>
              <a:buSzTx/>
              <a:buNone/>
            </a:pPr>
            <a:endParaRPr kumimoji="0" lang="es-CO" altLang="es-CO" sz="1200" b="1" i="0" u="none" strike="noStrike" cap="none" normalizeH="0" baseline="0" dirty="0">
              <a:ln>
                <a:noFill/>
              </a:ln>
              <a:solidFill>
                <a:schemeClr val="tx1"/>
              </a:solidFill>
              <a:effectLst/>
              <a:latin typeface="Montserrat Regular" panose="00000500000000000000" pitchFamily="2" charset="0"/>
            </a:endParaRPr>
          </a:p>
          <a:p>
            <a:pPr marL="0" indent="0" eaLnBrk="0" fontAlgn="base" hangingPunct="0">
              <a:lnSpc>
                <a:spcPct val="100000"/>
              </a:lnSpc>
              <a:spcBef>
                <a:spcPct val="0"/>
              </a:spcBef>
              <a:spcAft>
                <a:spcPct val="0"/>
              </a:spcAft>
              <a:buClrTx/>
              <a:buSzTx/>
              <a:buNone/>
            </a:pPr>
            <a:r>
              <a:rPr kumimoji="0" lang="es-CO" altLang="es-CO" sz="1200" b="1" i="0" u="none" strike="noStrike" cap="none" normalizeH="0" baseline="0" dirty="0">
                <a:ln>
                  <a:noFill/>
                </a:ln>
                <a:solidFill>
                  <a:schemeClr val="tx1"/>
                </a:solidFill>
                <a:effectLst/>
                <a:latin typeface="Montserrat Regular" panose="00000500000000000000" pitchFamily="2" charset="0"/>
              </a:rPr>
              <a:t>Justificación profesional:</a:t>
            </a:r>
          </a:p>
          <a:p>
            <a:pPr marL="0" indent="0" eaLnBrk="0" fontAlgn="base" hangingPunct="0">
              <a:lnSpc>
                <a:spcPct val="100000"/>
              </a:lnSpc>
              <a:spcBef>
                <a:spcPct val="0"/>
              </a:spcBef>
              <a:spcAft>
                <a:spcPct val="0"/>
              </a:spcAft>
              <a:buClrTx/>
              <a:buSzTx/>
              <a:buNone/>
            </a:pPr>
            <a:endParaRPr kumimoji="0" lang="es-CO" altLang="es-CO" sz="1200" b="1" i="0" u="none" strike="noStrike" cap="none" normalizeH="0" baseline="0" dirty="0">
              <a:ln>
                <a:noFill/>
              </a:ln>
              <a:solidFill>
                <a:schemeClr val="tx1"/>
              </a:solidFill>
              <a:effectLst/>
              <a:latin typeface="Montserrat Regular" panose="00000500000000000000" pitchFamily="2" charset="0"/>
            </a:endParaRPr>
          </a:p>
          <a:p>
            <a:pPr marL="0" indent="0" eaLnBrk="0" fontAlgn="base" hangingPunct="0">
              <a:lnSpc>
                <a:spcPct val="100000"/>
              </a:lnSpc>
              <a:spcBef>
                <a:spcPct val="0"/>
              </a:spcBef>
              <a:spcAft>
                <a:spcPct val="0"/>
              </a:spcAft>
              <a:buClrTx/>
              <a:buSzTx/>
              <a:buNone/>
            </a:pPr>
            <a:r>
              <a:rPr lang="es-ES" sz="1200" dirty="0"/>
              <a:t>El desarrollo del proyecto fortalece competencias clave en la ingeniería, como el análisis y diagnóstico de redes, el diseño de soluciones escalables, la configuración profesional de VLAN y OSPF y la validación del desempeño en entornos simulados. Estas habilidades son esenciales para el ejercicio profesional en áreas de telecomunicaciones, administración de redes y soporte técnico avanzado.</a:t>
            </a:r>
          </a:p>
          <a:p>
            <a:pPr marL="0" indent="0" eaLnBrk="0" fontAlgn="base" hangingPunct="0">
              <a:lnSpc>
                <a:spcPct val="100000"/>
              </a:lnSpc>
              <a:spcBef>
                <a:spcPct val="0"/>
              </a:spcBef>
              <a:spcAft>
                <a:spcPct val="0"/>
              </a:spcAft>
              <a:buClrTx/>
              <a:buSzTx/>
              <a:buNone/>
            </a:pPr>
            <a:endParaRPr kumimoji="0" lang="es-CO" altLang="es-CO" sz="1200" b="1" i="0" u="none" strike="noStrike" cap="none" normalizeH="0" baseline="0" dirty="0">
              <a:ln>
                <a:noFill/>
              </a:ln>
              <a:solidFill>
                <a:schemeClr val="tx1"/>
              </a:solidFill>
              <a:effectLst/>
              <a:latin typeface="Montserrat Regular" panose="00000500000000000000" pitchFamily="2" charset="0"/>
            </a:endParaRPr>
          </a:p>
          <a:p>
            <a:pPr marL="0" indent="0" eaLnBrk="0" fontAlgn="base" hangingPunct="0">
              <a:lnSpc>
                <a:spcPct val="100000"/>
              </a:lnSpc>
              <a:spcBef>
                <a:spcPct val="0"/>
              </a:spcBef>
              <a:spcAft>
                <a:spcPct val="0"/>
              </a:spcAft>
              <a:buClrTx/>
              <a:buSzTx/>
              <a:buNone/>
            </a:pPr>
            <a:r>
              <a:rPr kumimoji="0" lang="es-CO" altLang="es-CO" sz="1200" b="1" i="0" u="none" strike="noStrike" cap="none" normalizeH="0" baseline="0" dirty="0">
                <a:ln>
                  <a:noFill/>
                </a:ln>
                <a:solidFill>
                  <a:schemeClr val="tx1"/>
                </a:solidFill>
                <a:effectLst/>
                <a:latin typeface="Montserrat Regular" panose="00000500000000000000" pitchFamily="2" charset="0"/>
              </a:rPr>
              <a:t>Delimitación:</a:t>
            </a:r>
          </a:p>
          <a:p>
            <a:pPr marL="0" indent="0" eaLnBrk="0" fontAlgn="base" hangingPunct="0">
              <a:lnSpc>
                <a:spcPct val="100000"/>
              </a:lnSpc>
              <a:spcBef>
                <a:spcPct val="0"/>
              </a:spcBef>
              <a:spcAft>
                <a:spcPct val="0"/>
              </a:spcAft>
              <a:buClrTx/>
              <a:buSzTx/>
              <a:buNone/>
            </a:pPr>
            <a:endParaRPr kumimoji="0" lang="es-CO" altLang="es-CO" sz="1200" b="1" i="0" u="none" strike="noStrike" cap="none" normalizeH="0" baseline="0" dirty="0">
              <a:ln>
                <a:noFill/>
              </a:ln>
              <a:solidFill>
                <a:schemeClr val="tx1"/>
              </a:solidFill>
              <a:effectLst/>
              <a:latin typeface="Montserrat Regular" panose="00000500000000000000" pitchFamily="2" charset="0"/>
            </a:endParaRPr>
          </a:p>
          <a:p>
            <a:pPr marL="0" indent="0" eaLnBrk="0" fontAlgn="base" hangingPunct="0">
              <a:lnSpc>
                <a:spcPct val="100000"/>
              </a:lnSpc>
              <a:spcBef>
                <a:spcPct val="0"/>
              </a:spcBef>
              <a:spcAft>
                <a:spcPct val="0"/>
              </a:spcAft>
              <a:buClrTx/>
              <a:buSzTx/>
              <a:buNone/>
            </a:pPr>
            <a:r>
              <a:rPr lang="es-ES" sz="1200" dirty="0"/>
              <a:t>Abarca el diseño y simulación de una infraestructura de red optimizada mediante VLAN y OSPF, enfocada exclusivamente en el ámbito institucional definido en la topología planteada. Su alcance es espacialmente limitado a un entorno simulado que representa entidades como el Hospital, la Alcaldía, el Colegio y la Defensa Civil, sin incluir implementación física. En cuanto al tiempo, el proyecto se desarrolla durante las fases académicas establecidas, culminando con un prototipo funcional validado en Cisco </a:t>
            </a:r>
            <a:r>
              <a:rPr lang="es-ES" sz="1200" dirty="0" err="1"/>
              <a:t>Packet</a:t>
            </a:r>
            <a:r>
              <a:rPr lang="es-ES" sz="1200" dirty="0"/>
              <a:t> </a:t>
            </a:r>
            <a:r>
              <a:rPr lang="es-ES" sz="1200" dirty="0" err="1"/>
              <a:t>Tracer</a:t>
            </a:r>
            <a:r>
              <a:rPr lang="es-ES" sz="1200" dirty="0"/>
              <a:t> equivalente a un nivel de madurez tecnológica TRL5.</a:t>
            </a:r>
            <a:endParaRPr kumimoji="0" lang="es-CO" altLang="es-CO" sz="1200" i="0" u="none" strike="noStrike" cap="none" normalizeH="0" baseline="0" dirty="0">
              <a:ln>
                <a:noFill/>
              </a:ln>
              <a:solidFill>
                <a:schemeClr val="tx1"/>
              </a:solidFill>
              <a:effectLst/>
              <a:latin typeface="Montserrat Regular" panose="00000500000000000000" pitchFamily="2" charset="0"/>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40478-4B9E-03FC-0A5D-7A2459CBC08D}"/>
            </a:ext>
          </a:extLst>
        </p:cNvPr>
        <p:cNvGrpSpPr/>
        <p:nvPr/>
      </p:nvGrpSpPr>
      <p:grpSpPr>
        <a:xfrm>
          <a:off x="0" y="0"/>
          <a:ext cx="0" cy="0"/>
          <a:chOff x="0" y="0"/>
          <a:chExt cx="0" cy="0"/>
        </a:xfrm>
      </p:grpSpPr>
      <p:sp>
        <p:nvSpPr>
          <p:cNvPr id="167" name="Google Shape;87;p2">
            <a:extLst>
              <a:ext uri="{FF2B5EF4-FFF2-40B4-BE49-F238E27FC236}">
                <a16:creationId xmlns:a16="http://schemas.microsoft.com/office/drawing/2014/main" id="{88E371B6-F310-4B9D-6A79-450EEFFD9720}"/>
              </a:ext>
            </a:extLst>
          </p:cNvPr>
          <p:cNvSpPr txBox="1">
            <a:spLocks noGrp="1"/>
          </p:cNvSpPr>
          <p:nvPr>
            <p:ph type="title"/>
          </p:nvPr>
        </p:nvSpPr>
        <p:spPr>
          <a:xfrm>
            <a:off x="3058151" y="365125"/>
            <a:ext cx="6339902" cy="1294200"/>
          </a:xfrm>
          <a:prstGeom prst="rect">
            <a:avLst/>
          </a:prstGeom>
        </p:spPr>
        <p:txBody>
          <a:bodyPr/>
          <a:lstStyle/>
          <a:p>
            <a:r>
              <a:rPr lang="es-MX" dirty="0"/>
              <a:t>Objetivo general y objetivos específicos</a:t>
            </a:r>
            <a:endParaRPr dirty="0"/>
          </a:p>
        </p:txBody>
      </p:sp>
      <p:sp>
        <p:nvSpPr>
          <p:cNvPr id="2" name="Text Placeholder 1">
            <a:extLst>
              <a:ext uri="{FF2B5EF4-FFF2-40B4-BE49-F238E27FC236}">
                <a16:creationId xmlns:a16="http://schemas.microsoft.com/office/drawing/2014/main" id="{AB553DD5-6FE3-AD98-8B3E-4094E2AEDE68}"/>
              </a:ext>
            </a:extLst>
          </p:cNvPr>
          <p:cNvSpPr>
            <a:spLocks noGrp="1" noChangeArrowheads="1"/>
          </p:cNvSpPr>
          <p:nvPr>
            <p:ph type="body" sz="half" idx="1"/>
          </p:nvPr>
        </p:nvSpPr>
        <p:spPr bwMode="auto">
          <a:xfrm>
            <a:off x="1903751" y="1636544"/>
            <a:ext cx="994472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00000"/>
              </a:lnSpc>
              <a:spcBef>
                <a:spcPct val="0"/>
              </a:spcBef>
              <a:spcAft>
                <a:spcPct val="0"/>
              </a:spcAft>
              <a:buClrTx/>
              <a:buSzTx/>
            </a:pPr>
            <a:r>
              <a:rPr kumimoji="0" lang="es-CO" altLang="es-CO" sz="1400" b="1" i="0" u="none" strike="noStrike" cap="none" normalizeH="0" baseline="0" dirty="0">
                <a:ln>
                  <a:noFill/>
                </a:ln>
                <a:solidFill>
                  <a:schemeClr val="tx1"/>
                </a:solidFill>
                <a:effectLst/>
                <a:latin typeface="Montserrat Regular" panose="00000500000000000000" pitchFamily="2" charset="0"/>
              </a:rPr>
              <a:t>Objetivo general:</a:t>
            </a:r>
          </a:p>
          <a:p>
            <a:pPr marL="0" indent="0" eaLnBrk="0" fontAlgn="base" hangingPunct="0">
              <a:lnSpc>
                <a:spcPct val="100000"/>
              </a:lnSpc>
              <a:spcBef>
                <a:spcPct val="0"/>
              </a:spcBef>
              <a:spcAft>
                <a:spcPct val="0"/>
              </a:spcAft>
              <a:buClrTx/>
              <a:buSzTx/>
              <a:buNone/>
            </a:pPr>
            <a:br>
              <a:rPr kumimoji="0" lang="es-CO" altLang="es-CO" sz="1400" i="0" u="none" strike="noStrike" cap="none" normalizeH="0" baseline="0" dirty="0">
                <a:ln>
                  <a:noFill/>
                </a:ln>
                <a:solidFill>
                  <a:schemeClr val="tx1"/>
                </a:solidFill>
                <a:effectLst/>
                <a:latin typeface="Montserrat Regular" panose="00000500000000000000" pitchFamily="2" charset="0"/>
              </a:rPr>
            </a:br>
            <a:r>
              <a:rPr lang="es-ES" sz="1400" dirty="0"/>
              <a:t>Diseñar y configurar una infraestructura de red optimizada mediante la implementación de VLAN y el protocolo de enrutamiento OSPF, simulada en Cisco </a:t>
            </a:r>
            <a:r>
              <a:rPr lang="es-ES" sz="1400" dirty="0" err="1"/>
              <a:t>Packet</a:t>
            </a:r>
            <a:r>
              <a:rPr lang="es-ES" sz="1400" dirty="0"/>
              <a:t> </a:t>
            </a:r>
            <a:r>
              <a:rPr lang="es-ES" sz="1400" dirty="0" err="1"/>
              <a:t>Tracer</a:t>
            </a:r>
            <a:r>
              <a:rPr lang="es-ES" sz="1400" dirty="0"/>
              <a:t>, con el fin de mejorar la segmentación, el rendimiento y la conectividad entre las diferentes áreas de la topología institucional.</a:t>
            </a:r>
          </a:p>
          <a:p>
            <a:pPr marL="285750" indent="-285750" eaLnBrk="0" fontAlgn="base" hangingPunct="0">
              <a:lnSpc>
                <a:spcPct val="100000"/>
              </a:lnSpc>
              <a:spcBef>
                <a:spcPct val="0"/>
              </a:spcBef>
              <a:spcAft>
                <a:spcPct val="0"/>
              </a:spcAft>
              <a:buClrTx/>
              <a:buSzTx/>
            </a:pPr>
            <a:endParaRPr kumimoji="0" lang="es-ES" altLang="es-CO" sz="1400" b="1" i="0" u="none" strike="noStrike" cap="none" normalizeH="0" baseline="0" dirty="0">
              <a:ln>
                <a:noFill/>
              </a:ln>
              <a:solidFill>
                <a:schemeClr val="tx1"/>
              </a:solidFill>
              <a:effectLst/>
              <a:latin typeface="Montserrat Regular" panose="00000500000000000000" pitchFamily="2" charset="0"/>
            </a:endParaRPr>
          </a:p>
          <a:p>
            <a:pPr marL="285750" indent="-285750" eaLnBrk="0" fontAlgn="base" hangingPunct="0">
              <a:lnSpc>
                <a:spcPct val="100000"/>
              </a:lnSpc>
              <a:spcBef>
                <a:spcPct val="0"/>
              </a:spcBef>
              <a:spcAft>
                <a:spcPct val="0"/>
              </a:spcAft>
              <a:buClrTx/>
              <a:buSzTx/>
            </a:pPr>
            <a:r>
              <a:rPr kumimoji="0" lang="es-CO" altLang="es-CO" sz="1400" b="1" i="0" u="none" strike="noStrike" cap="none" normalizeH="0" baseline="0" dirty="0">
                <a:ln>
                  <a:noFill/>
                </a:ln>
                <a:solidFill>
                  <a:schemeClr val="tx1"/>
                </a:solidFill>
                <a:effectLst/>
                <a:latin typeface="Montserrat Regular" panose="00000500000000000000" pitchFamily="2" charset="0"/>
              </a:rPr>
              <a:t>Objetivos específicos:</a:t>
            </a:r>
          </a:p>
          <a:p>
            <a:pPr marL="285750" indent="-285750" eaLnBrk="0" fontAlgn="base" hangingPunct="0">
              <a:lnSpc>
                <a:spcPct val="100000"/>
              </a:lnSpc>
              <a:spcBef>
                <a:spcPct val="0"/>
              </a:spcBef>
              <a:spcAft>
                <a:spcPct val="0"/>
              </a:spcAft>
              <a:buClrTx/>
              <a:buSzTx/>
            </a:pPr>
            <a:endParaRPr kumimoji="0" lang="es-CO" altLang="es-CO" sz="1400" b="1" i="0" u="none" strike="noStrike" cap="none" normalizeH="0" baseline="0" dirty="0">
              <a:ln>
                <a:noFill/>
              </a:ln>
              <a:solidFill>
                <a:schemeClr val="tx1"/>
              </a:solidFill>
              <a:effectLst/>
              <a:latin typeface="Montserrat Regular" panose="00000500000000000000" pitchFamily="2" charset="0"/>
            </a:endParaRPr>
          </a:p>
          <a:p>
            <a:pPr marL="342900" lvl="0" eaLnBrk="0" fontAlgn="base" hangingPunct="0">
              <a:lnSpc>
                <a:spcPct val="100000"/>
              </a:lnSpc>
              <a:spcBef>
                <a:spcPct val="0"/>
              </a:spcBef>
              <a:spcAft>
                <a:spcPct val="0"/>
              </a:spcAft>
              <a:buClrTx/>
              <a:buSzTx/>
              <a:buFont typeface="+mj-lt"/>
              <a:buAutoNum type="arabicPeriod"/>
            </a:pPr>
            <a:r>
              <a:rPr lang="es-CO" altLang="es-CO" sz="1400" dirty="0"/>
              <a:t>Analizar las limitaciones y problemas presentes en la infraestructura de red actual, incluyendo congestión, latencia y falta de segmentación.</a:t>
            </a:r>
          </a:p>
          <a:p>
            <a:pPr marL="342900" lvl="0" eaLnBrk="0" fontAlgn="base" hangingPunct="0">
              <a:lnSpc>
                <a:spcPct val="100000"/>
              </a:lnSpc>
              <a:spcBef>
                <a:spcPct val="0"/>
              </a:spcBef>
              <a:spcAft>
                <a:spcPct val="0"/>
              </a:spcAft>
              <a:buClrTx/>
              <a:buSzTx/>
              <a:buFont typeface="+mj-lt"/>
              <a:buAutoNum type="arabicPeriod"/>
            </a:pPr>
            <a:r>
              <a:rPr lang="es-CO" altLang="es-CO" sz="1400" dirty="0"/>
              <a:t>Diseñar la arquitectura de red incorporando VLAN y subinterfaces que permitan una distribución adecuada del tráfico.</a:t>
            </a:r>
          </a:p>
          <a:p>
            <a:pPr marL="342900" lvl="0" eaLnBrk="0" fontAlgn="base" hangingPunct="0">
              <a:lnSpc>
                <a:spcPct val="100000"/>
              </a:lnSpc>
              <a:spcBef>
                <a:spcPct val="0"/>
              </a:spcBef>
              <a:spcAft>
                <a:spcPct val="0"/>
              </a:spcAft>
              <a:buClrTx/>
              <a:buSzTx/>
              <a:buFont typeface="+mj-lt"/>
              <a:buAutoNum type="arabicPeriod"/>
            </a:pPr>
            <a:r>
              <a:rPr lang="es-CO" altLang="es-CO" sz="1400" dirty="0"/>
              <a:t>Implementar el protocolo de enrutamiento OSPF para optimizar la comunicación entre las distintas redes simuladas.</a:t>
            </a:r>
          </a:p>
          <a:p>
            <a:pPr marL="342900" lvl="0" eaLnBrk="0" fontAlgn="base" hangingPunct="0">
              <a:lnSpc>
                <a:spcPct val="100000"/>
              </a:lnSpc>
              <a:spcBef>
                <a:spcPct val="0"/>
              </a:spcBef>
              <a:spcAft>
                <a:spcPct val="0"/>
              </a:spcAft>
              <a:buClrTx/>
              <a:buSzTx/>
              <a:buFont typeface="+mj-lt"/>
              <a:buAutoNum type="arabicPeriod"/>
            </a:pPr>
            <a:r>
              <a:rPr lang="es-CO" altLang="es-CO" sz="1400" dirty="0"/>
              <a:t>Aplicar la metodología Scrum para planificar, organizar y gestionar el desarrollo del proyecto en ciclos iterativos.</a:t>
            </a:r>
          </a:p>
          <a:p>
            <a:pPr marL="342900" lvl="0" eaLnBrk="0" fontAlgn="base" hangingPunct="0">
              <a:lnSpc>
                <a:spcPct val="100000"/>
              </a:lnSpc>
              <a:spcBef>
                <a:spcPct val="0"/>
              </a:spcBef>
              <a:spcAft>
                <a:spcPct val="0"/>
              </a:spcAft>
              <a:buClrTx/>
              <a:buSzTx/>
              <a:buFont typeface="+mj-lt"/>
              <a:buAutoNum type="arabicPeriod"/>
            </a:pPr>
            <a:r>
              <a:rPr lang="es-CO" altLang="es-CO" sz="1400" dirty="0"/>
              <a:t>Evaluar el desempeño y conectividad del prototipo mediante pruebas de tráfico, verificación de rutas y validación perceptual con los usuarios.</a:t>
            </a:r>
          </a:p>
          <a:p>
            <a:pPr marL="285750" indent="-285750" eaLnBrk="0" fontAlgn="base" hangingPunct="0">
              <a:lnSpc>
                <a:spcPct val="100000"/>
              </a:lnSpc>
              <a:spcBef>
                <a:spcPct val="0"/>
              </a:spcBef>
              <a:spcAft>
                <a:spcPct val="0"/>
              </a:spcAft>
              <a:buClrTx/>
              <a:buSzTx/>
            </a:pPr>
            <a:endParaRPr kumimoji="0" lang="es-CO" altLang="es-CO" sz="1800" i="0" u="none" strike="noStrike" cap="none" normalizeH="0" baseline="0" dirty="0">
              <a:ln>
                <a:noFill/>
              </a:ln>
              <a:solidFill>
                <a:schemeClr val="tx1"/>
              </a:solidFill>
              <a:effectLst/>
              <a:latin typeface="Montserrat Regular" panose="00000500000000000000" pitchFamily="2" charset="0"/>
            </a:endParaRPr>
          </a:p>
        </p:txBody>
      </p:sp>
    </p:spTree>
    <p:extLst>
      <p:ext uri="{BB962C8B-B14F-4D97-AF65-F5344CB8AC3E}">
        <p14:creationId xmlns:p14="http://schemas.microsoft.com/office/powerpoint/2010/main" val="117325307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73609-538A-2CD6-CD72-0BB258DDB112}"/>
            </a:ext>
          </a:extLst>
        </p:cNvPr>
        <p:cNvGrpSpPr/>
        <p:nvPr/>
      </p:nvGrpSpPr>
      <p:grpSpPr>
        <a:xfrm>
          <a:off x="0" y="0"/>
          <a:ext cx="0" cy="0"/>
          <a:chOff x="0" y="0"/>
          <a:chExt cx="0" cy="0"/>
        </a:xfrm>
      </p:grpSpPr>
      <p:sp>
        <p:nvSpPr>
          <p:cNvPr id="167" name="Google Shape;87;p2">
            <a:extLst>
              <a:ext uri="{FF2B5EF4-FFF2-40B4-BE49-F238E27FC236}">
                <a16:creationId xmlns:a16="http://schemas.microsoft.com/office/drawing/2014/main" id="{37F061F8-74ED-EE24-7888-DEB295D5B824}"/>
              </a:ext>
            </a:extLst>
          </p:cNvPr>
          <p:cNvSpPr txBox="1">
            <a:spLocks noGrp="1"/>
          </p:cNvSpPr>
          <p:nvPr>
            <p:ph type="title"/>
          </p:nvPr>
        </p:nvSpPr>
        <p:spPr>
          <a:xfrm>
            <a:off x="3058151" y="365125"/>
            <a:ext cx="6339902" cy="1294200"/>
          </a:xfrm>
          <a:prstGeom prst="rect">
            <a:avLst/>
          </a:prstGeom>
        </p:spPr>
        <p:txBody>
          <a:bodyPr/>
          <a:lstStyle/>
          <a:p>
            <a:r>
              <a:rPr lang="es-CO" dirty="0"/>
              <a:t>Marco referencial</a:t>
            </a:r>
            <a:endParaRPr dirty="0"/>
          </a:p>
        </p:txBody>
      </p:sp>
      <p:sp>
        <p:nvSpPr>
          <p:cNvPr id="2" name="Text Placeholder 1">
            <a:extLst>
              <a:ext uri="{FF2B5EF4-FFF2-40B4-BE49-F238E27FC236}">
                <a16:creationId xmlns:a16="http://schemas.microsoft.com/office/drawing/2014/main" id="{A5C71074-ECD2-2D63-CF15-6CF9EE315E6D}"/>
              </a:ext>
            </a:extLst>
          </p:cNvPr>
          <p:cNvSpPr>
            <a:spLocks noGrp="1" noChangeArrowheads="1"/>
          </p:cNvSpPr>
          <p:nvPr>
            <p:ph type="body" sz="half" idx="1"/>
          </p:nvPr>
        </p:nvSpPr>
        <p:spPr bwMode="auto">
          <a:xfrm>
            <a:off x="2608289" y="1276163"/>
            <a:ext cx="8745512" cy="5297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buNone/>
            </a:pPr>
            <a:endParaRPr lang="es-CO" altLang="es-CO" sz="1400" dirty="0">
              <a:solidFill>
                <a:schemeClr val="tx1"/>
              </a:solidFill>
              <a:latin typeface="Montserrat Regular" panose="00000500000000000000" pitchFamily="2" charset="0"/>
            </a:endParaRPr>
          </a:p>
          <a:p>
            <a:r>
              <a:rPr lang="es-ES" sz="1400" b="1" dirty="0"/>
              <a:t>Simulación de redes:</a:t>
            </a:r>
            <a:br>
              <a:rPr lang="es-ES" sz="1400" dirty="0"/>
            </a:br>
            <a:r>
              <a:rPr lang="es-ES" sz="1400" dirty="0"/>
              <a:t>La simulación es una herramienta fundamental para evaluar el comportamiento de una infraestructura de red antes de su implementación real. Cisco </a:t>
            </a:r>
            <a:r>
              <a:rPr lang="es-ES" sz="1400" dirty="0" err="1"/>
              <a:t>Packet</a:t>
            </a:r>
            <a:r>
              <a:rPr lang="es-ES" sz="1400" dirty="0"/>
              <a:t> </a:t>
            </a:r>
            <a:r>
              <a:rPr lang="es-ES" sz="1400" dirty="0" err="1"/>
              <a:t>Tracer</a:t>
            </a:r>
            <a:r>
              <a:rPr lang="es-ES" sz="1400" dirty="0"/>
              <a:t> permite recrear entornos complejos, analizar el tráfico, validar configuraciones y comprobar la estabilidad de los protocolos de comunicación.</a:t>
            </a:r>
          </a:p>
          <a:p>
            <a:r>
              <a:rPr lang="es-ES" sz="1400" b="1" dirty="0"/>
              <a:t>Segmentación mediante VLAN:</a:t>
            </a:r>
            <a:br>
              <a:rPr lang="es-ES" sz="1400" dirty="0"/>
            </a:br>
            <a:r>
              <a:rPr lang="es-ES" sz="1400" dirty="0"/>
              <a:t>Las VLAN permiten dividir una red física en múltiples redes lógicas, mejorando la seguridad, reduciendo la congestión y organizando el tráfico de manera eficiente. Esta técnica minimiza el dominio de broadcast y contribuye a un mejor rendimiento general.</a:t>
            </a:r>
          </a:p>
          <a:p>
            <a:r>
              <a:rPr lang="es-ES" sz="1400" b="1" dirty="0"/>
              <a:t>Protocolo de enrutamiento OSPF:</a:t>
            </a:r>
            <a:br>
              <a:rPr lang="es-ES" sz="1400" dirty="0"/>
            </a:br>
            <a:r>
              <a:rPr lang="es-ES" sz="1400" dirty="0"/>
              <a:t>OSPF es un protocolo de enrutamiento dinámico basado en estado de enlace que garantiza una comunicación eficiente entre diferentes subredes. Ofrece alta escalabilidad, rápida convergencia y rutas óptimas mediante el algoritmo de Dijkstra.</a:t>
            </a:r>
          </a:p>
          <a:p>
            <a:r>
              <a:rPr lang="es-ES" sz="1400" b="1" dirty="0"/>
              <a:t>Brecha de rendimiento en redes institucionales:</a:t>
            </a:r>
            <a:br>
              <a:rPr lang="es-ES" sz="1400" dirty="0"/>
            </a:br>
            <a:r>
              <a:rPr lang="es-ES" sz="1400" dirty="0"/>
              <a:t>La falta de segmentación adecuada, el crecimiento acelerado de dispositivos y el uso de configuraciones básicas generan congestión, latencia y pérdida de paquetes en instituciones educativas, administrativas y comunitarias.</a:t>
            </a:r>
          </a:p>
          <a:p>
            <a:r>
              <a:rPr lang="es-ES" sz="1400" b="1" dirty="0"/>
              <a:t>Infraestructura de red escalable:</a:t>
            </a:r>
            <a:br>
              <a:rPr lang="es-ES" sz="1400" dirty="0"/>
            </a:br>
            <a:r>
              <a:rPr lang="es-ES" sz="1400" dirty="0"/>
              <a:t>El diseño de redes modernas requiere arquitecturas flexibles que permitan crecimiento, integración de nuevas tecnologías y administración eficiente. La combinación de VLAN y OSPF constituye una solución sólida para redes medianas y grandes.</a:t>
            </a:r>
          </a:p>
          <a:p>
            <a:pPr marL="285750" indent="-285750" eaLnBrk="0" fontAlgn="base" hangingPunct="0">
              <a:lnSpc>
                <a:spcPct val="100000"/>
              </a:lnSpc>
              <a:spcBef>
                <a:spcPct val="0"/>
              </a:spcBef>
              <a:spcAft>
                <a:spcPct val="0"/>
              </a:spcAft>
              <a:buClrTx/>
              <a:buSzTx/>
            </a:pPr>
            <a:endParaRPr kumimoji="0" lang="es-CO" altLang="es-CO" sz="1800" i="0" u="none" strike="noStrike" cap="none" normalizeH="0" baseline="0" dirty="0">
              <a:ln>
                <a:noFill/>
              </a:ln>
              <a:solidFill>
                <a:schemeClr val="tx1"/>
              </a:solidFill>
              <a:effectLst/>
              <a:latin typeface="Montserrat Regular" panose="00000500000000000000" pitchFamily="2" charset="0"/>
            </a:endParaRPr>
          </a:p>
        </p:txBody>
      </p:sp>
    </p:spTree>
    <p:extLst>
      <p:ext uri="{BB962C8B-B14F-4D97-AF65-F5344CB8AC3E}">
        <p14:creationId xmlns:p14="http://schemas.microsoft.com/office/powerpoint/2010/main" val="173870226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B48A6-1C2C-D7E2-0F67-3E3EEBD6BFC2}"/>
            </a:ext>
          </a:extLst>
        </p:cNvPr>
        <p:cNvGrpSpPr/>
        <p:nvPr/>
      </p:nvGrpSpPr>
      <p:grpSpPr>
        <a:xfrm>
          <a:off x="0" y="0"/>
          <a:ext cx="0" cy="0"/>
          <a:chOff x="0" y="0"/>
          <a:chExt cx="0" cy="0"/>
        </a:xfrm>
      </p:grpSpPr>
      <p:sp>
        <p:nvSpPr>
          <p:cNvPr id="186" name="Google Shape;133;p4">
            <a:extLst>
              <a:ext uri="{FF2B5EF4-FFF2-40B4-BE49-F238E27FC236}">
                <a16:creationId xmlns:a16="http://schemas.microsoft.com/office/drawing/2014/main" id="{EC5D4FD3-0900-3046-532E-B16F9DDA957D}"/>
              </a:ext>
            </a:extLst>
          </p:cNvPr>
          <p:cNvSpPr txBox="1">
            <a:spLocks noGrp="1"/>
          </p:cNvSpPr>
          <p:nvPr>
            <p:ph type="title"/>
          </p:nvPr>
        </p:nvSpPr>
        <p:spPr>
          <a:xfrm>
            <a:off x="4779050" y="225608"/>
            <a:ext cx="6630001" cy="1063501"/>
          </a:xfrm>
          <a:prstGeom prst="rect">
            <a:avLst/>
          </a:prstGeom>
        </p:spPr>
        <p:txBody>
          <a:bodyPr>
            <a:normAutofit fontScale="90000"/>
          </a:bodyPr>
          <a:lstStyle/>
          <a:p>
            <a:r>
              <a:rPr lang="es-CO" dirty="0"/>
              <a:t>Metodología de investigación</a:t>
            </a:r>
            <a:endParaRPr dirty="0"/>
          </a:p>
        </p:txBody>
      </p:sp>
      <p:sp>
        <p:nvSpPr>
          <p:cNvPr id="2" name="Text Placeholder 1">
            <a:extLst>
              <a:ext uri="{FF2B5EF4-FFF2-40B4-BE49-F238E27FC236}">
                <a16:creationId xmlns:a16="http://schemas.microsoft.com/office/drawing/2014/main" id="{4C72EB44-9A40-86CE-BB38-09D011A61586}"/>
              </a:ext>
            </a:extLst>
          </p:cNvPr>
          <p:cNvSpPr>
            <a:spLocks noGrp="1" noChangeArrowheads="1"/>
          </p:cNvSpPr>
          <p:nvPr>
            <p:ph type="body" idx="1"/>
          </p:nvPr>
        </p:nvSpPr>
        <p:spPr bwMode="auto">
          <a:xfrm>
            <a:off x="1108023" y="1884474"/>
            <a:ext cx="10301028" cy="4649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ES" sz="1400" b="1" dirty="0"/>
              <a:t>Enfoque metodológico:</a:t>
            </a:r>
            <a:br>
              <a:rPr lang="es-ES" sz="1400" dirty="0"/>
            </a:br>
            <a:r>
              <a:rPr lang="es-ES" sz="1400" dirty="0"/>
              <a:t>El proyecto emplea un enfoque </a:t>
            </a:r>
            <a:r>
              <a:rPr lang="es-ES" sz="1400" b="1" dirty="0"/>
              <a:t>mixto, descriptivo y aplicado</a:t>
            </a:r>
            <a:r>
              <a:rPr lang="es-ES" sz="1400" dirty="0"/>
              <a:t>, ya que combina el análisis técnico de la infraestructura de red con la evaluación perceptual de los usuarios. Se describe el estado actual de la red, se diseña una solución mejorada mediante VLAN y OSPF, y se valida su desempeño a través de simulación.</a:t>
            </a:r>
          </a:p>
          <a:p>
            <a:r>
              <a:rPr lang="es-ES" sz="1400" b="1" dirty="0"/>
              <a:t>Instrumento principal:</a:t>
            </a:r>
            <a:br>
              <a:rPr lang="es-ES" sz="1400" dirty="0"/>
            </a:br>
            <a:r>
              <a:rPr lang="es-ES" sz="1400" dirty="0"/>
              <a:t>Se utilizaron pruebas de conectividad, análisis de tablas de enrutamiento, verificación de estados OSPF y simulaciones de tráfico en Cisco </a:t>
            </a:r>
            <a:r>
              <a:rPr lang="es-ES" sz="1400" dirty="0" err="1"/>
              <a:t>Packet</a:t>
            </a:r>
            <a:r>
              <a:rPr lang="es-ES" sz="1400" dirty="0"/>
              <a:t> </a:t>
            </a:r>
            <a:r>
              <a:rPr lang="es-ES" sz="1400" dirty="0" err="1"/>
              <a:t>Tracer</a:t>
            </a:r>
            <a:r>
              <a:rPr lang="es-ES" sz="1400" dirty="0"/>
              <a:t>. Complementariamente, se aplicó un formulario de valoración para evaluar la percepción de los usuarios sobre la mejora en la red.</a:t>
            </a:r>
          </a:p>
          <a:p>
            <a:r>
              <a:rPr lang="es-ES" sz="1400" b="1" dirty="0"/>
              <a:t>Población y muestra:</a:t>
            </a:r>
            <a:br>
              <a:rPr lang="es-ES" sz="1400" dirty="0"/>
            </a:br>
            <a:r>
              <a:rPr lang="es-ES" sz="1400" dirty="0"/>
              <a:t>La población objetivo corresponde a los usuarios institucionales involucrados en los diferentes nodos de la red (Hospital, Alcaldía, Colegio, Defensa Civil). La muestra incluye a participantes que evaluaron la funcionalidad y eficiencia del prototipo en su entorno simulado.</a:t>
            </a:r>
          </a:p>
          <a:p>
            <a:r>
              <a:rPr lang="es-ES" sz="1400" b="1" dirty="0"/>
              <a:t>Variables analizadas:</a:t>
            </a:r>
          </a:p>
          <a:p>
            <a:pPr marL="50800" indent="0">
              <a:lnSpc>
                <a:spcPct val="100000"/>
              </a:lnSpc>
              <a:buNone/>
            </a:pPr>
            <a:r>
              <a:rPr lang="es-ES" sz="1400" dirty="0"/>
              <a:t>Latencia y estabilidad en la comunicación.</a:t>
            </a:r>
          </a:p>
          <a:p>
            <a:pPr marL="50800" indent="0">
              <a:lnSpc>
                <a:spcPct val="100000"/>
              </a:lnSpc>
              <a:buNone/>
            </a:pPr>
            <a:r>
              <a:rPr lang="es-ES" sz="1400" dirty="0"/>
              <a:t>Funcionamiento de VLAN y segmentación lógica.</a:t>
            </a:r>
          </a:p>
          <a:p>
            <a:pPr marL="50800" indent="0">
              <a:lnSpc>
                <a:spcPct val="100000"/>
              </a:lnSpc>
              <a:buNone/>
            </a:pPr>
            <a:r>
              <a:rPr lang="es-ES" sz="1400" dirty="0"/>
              <a:t>Convergencia y eficiencia del protocolo OSPF.</a:t>
            </a:r>
          </a:p>
          <a:p>
            <a:pPr marL="50800" indent="0">
              <a:lnSpc>
                <a:spcPct val="100000"/>
              </a:lnSpc>
              <a:buNone/>
            </a:pPr>
            <a:r>
              <a:rPr lang="es-ES" sz="1400" dirty="0"/>
              <a:t>Percepción de mejora en la conectividad y organización de la red.</a:t>
            </a:r>
          </a:p>
          <a:p>
            <a:pPr marL="285750" indent="-285750" eaLnBrk="0" fontAlgn="base" hangingPunct="0">
              <a:lnSpc>
                <a:spcPct val="100000"/>
              </a:lnSpc>
              <a:spcBef>
                <a:spcPct val="0"/>
              </a:spcBef>
              <a:spcAft>
                <a:spcPct val="0"/>
              </a:spcAft>
              <a:buClrTx/>
              <a:buSzTx/>
            </a:pPr>
            <a:endParaRPr kumimoji="0" lang="es-CO" altLang="es-CO" sz="1800" i="0" u="none" strike="noStrike" cap="none" normalizeH="0" baseline="0" dirty="0">
              <a:ln>
                <a:noFill/>
              </a:ln>
              <a:solidFill>
                <a:schemeClr val="tx1"/>
              </a:solidFill>
              <a:effectLst/>
              <a:latin typeface="Montserrat Regular" panose="00000500000000000000" pitchFamily="2" charset="0"/>
            </a:endParaRPr>
          </a:p>
        </p:txBody>
      </p:sp>
    </p:spTree>
    <p:extLst>
      <p:ext uri="{BB962C8B-B14F-4D97-AF65-F5344CB8AC3E}">
        <p14:creationId xmlns:p14="http://schemas.microsoft.com/office/powerpoint/2010/main" val="414995573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CA706-DA53-4E53-A60F-F528E3483066}"/>
            </a:ext>
          </a:extLst>
        </p:cNvPr>
        <p:cNvGrpSpPr/>
        <p:nvPr/>
      </p:nvGrpSpPr>
      <p:grpSpPr>
        <a:xfrm>
          <a:off x="0" y="0"/>
          <a:ext cx="0" cy="0"/>
          <a:chOff x="0" y="0"/>
          <a:chExt cx="0" cy="0"/>
        </a:xfrm>
      </p:grpSpPr>
      <p:sp>
        <p:nvSpPr>
          <p:cNvPr id="167" name="Google Shape;87;p2">
            <a:extLst>
              <a:ext uri="{FF2B5EF4-FFF2-40B4-BE49-F238E27FC236}">
                <a16:creationId xmlns:a16="http://schemas.microsoft.com/office/drawing/2014/main" id="{422534E8-22D5-F66B-5767-C035B88AB551}"/>
              </a:ext>
            </a:extLst>
          </p:cNvPr>
          <p:cNvSpPr txBox="1">
            <a:spLocks noGrp="1"/>
          </p:cNvSpPr>
          <p:nvPr>
            <p:ph type="title"/>
          </p:nvPr>
        </p:nvSpPr>
        <p:spPr>
          <a:xfrm>
            <a:off x="2180610" y="279400"/>
            <a:ext cx="8121446" cy="1294200"/>
          </a:xfrm>
          <a:prstGeom prst="rect">
            <a:avLst/>
          </a:prstGeom>
        </p:spPr>
        <p:txBody>
          <a:bodyPr>
            <a:normAutofit/>
          </a:bodyPr>
          <a:lstStyle/>
          <a:p>
            <a:r>
              <a:rPr lang="es-MX" dirty="0"/>
              <a:t>Metodología de desarrollo y nivel de madurez tecnológica</a:t>
            </a:r>
            <a:endParaRPr dirty="0"/>
          </a:p>
        </p:txBody>
      </p:sp>
      <p:sp>
        <p:nvSpPr>
          <p:cNvPr id="2" name="Text Placeholder 1">
            <a:extLst>
              <a:ext uri="{FF2B5EF4-FFF2-40B4-BE49-F238E27FC236}">
                <a16:creationId xmlns:a16="http://schemas.microsoft.com/office/drawing/2014/main" id="{D4EBE398-C27C-D426-C463-8CF5257E2974}"/>
              </a:ext>
            </a:extLst>
          </p:cNvPr>
          <p:cNvSpPr>
            <a:spLocks noGrp="1" noChangeArrowheads="1"/>
          </p:cNvSpPr>
          <p:nvPr>
            <p:ph type="body" sz="half" idx="1"/>
          </p:nvPr>
        </p:nvSpPr>
        <p:spPr bwMode="auto">
          <a:xfrm>
            <a:off x="2743201" y="2476337"/>
            <a:ext cx="8610600" cy="282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ES" sz="1400" b="1" dirty="0"/>
              <a:t>Metodología de desarrollo: Scrum</a:t>
            </a:r>
            <a:br>
              <a:rPr lang="es-ES" sz="1400" dirty="0"/>
            </a:br>
            <a:r>
              <a:rPr lang="es-ES" sz="1400" dirty="0"/>
              <a:t>Se aplicó la metodología ágil Scrum para organizar y gestionar el proyecto, permitiendo un desarrollo iterativo y la entrega de avances progresivos de la infraestructura de red simulada.</a:t>
            </a:r>
            <a:br>
              <a:rPr lang="es-ES" sz="1400" dirty="0"/>
            </a:br>
            <a:endParaRPr lang="es-ES" sz="1400" dirty="0"/>
          </a:p>
          <a:p>
            <a:r>
              <a:rPr lang="es-ES" sz="1400" b="1" dirty="0"/>
              <a:t>Nivel de Madurez Tecnológica (TRL5)</a:t>
            </a:r>
            <a:br>
              <a:rPr lang="es-ES" sz="1400" dirty="0"/>
            </a:br>
            <a:r>
              <a:rPr lang="es-ES" sz="1400" dirty="0"/>
              <a:t>El proyecto alcanzó el nivel TRL5, correspondiente a un prototipo funcional evaluado en un entorno simulado. La infraestructura fue probada en Cisco </a:t>
            </a:r>
            <a:r>
              <a:rPr lang="es-ES" sz="1400" dirty="0" err="1"/>
              <a:t>Packet</a:t>
            </a:r>
            <a:r>
              <a:rPr lang="es-ES" sz="1400" dirty="0"/>
              <a:t> </a:t>
            </a:r>
            <a:r>
              <a:rPr lang="es-ES" sz="1400" dirty="0" err="1"/>
              <a:t>Tracer</a:t>
            </a:r>
            <a:r>
              <a:rPr lang="es-ES" sz="1400" dirty="0"/>
              <a:t>, validando el funcionamiento de VLAN, subinterfaces y el protocolo OSPF.</a:t>
            </a:r>
            <a:br>
              <a:rPr lang="es-ES" sz="1400" dirty="0"/>
            </a:br>
            <a:r>
              <a:rPr lang="es-ES" sz="1400" dirty="0"/>
              <a:t>Además, se realizaron pruebas de conectividad, verificación de rutas y un ejercicio de percepción con usuarios, lo que permitió confirmar la viabilidad técnica y operativa de la solución diseñada.</a:t>
            </a:r>
          </a:p>
          <a:p>
            <a:pPr marL="285750" indent="-285750" eaLnBrk="0" fontAlgn="base" hangingPunct="0">
              <a:lnSpc>
                <a:spcPct val="100000"/>
              </a:lnSpc>
              <a:spcBef>
                <a:spcPct val="0"/>
              </a:spcBef>
              <a:spcAft>
                <a:spcPct val="0"/>
              </a:spcAft>
              <a:buClrTx/>
              <a:buSzTx/>
            </a:pPr>
            <a:endParaRPr kumimoji="0" lang="es-CO" altLang="es-CO" sz="1800" i="0" u="none" strike="noStrike" cap="none" normalizeH="0" baseline="0" dirty="0">
              <a:ln>
                <a:noFill/>
              </a:ln>
              <a:solidFill>
                <a:schemeClr val="tx1"/>
              </a:solidFill>
              <a:effectLst/>
              <a:latin typeface="Montserrat Regular" panose="00000500000000000000" pitchFamily="2" charset="0"/>
            </a:endParaRPr>
          </a:p>
        </p:txBody>
      </p:sp>
    </p:spTree>
    <p:extLst>
      <p:ext uri="{BB962C8B-B14F-4D97-AF65-F5344CB8AC3E}">
        <p14:creationId xmlns:p14="http://schemas.microsoft.com/office/powerpoint/2010/main" val="10044678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Google Shape;93;p3"/>
          <p:cNvSpPr txBox="1">
            <a:spLocks noGrp="1"/>
          </p:cNvSpPr>
          <p:nvPr>
            <p:ph type="title"/>
          </p:nvPr>
        </p:nvSpPr>
        <p:spPr>
          <a:xfrm>
            <a:off x="4779050" y="225608"/>
            <a:ext cx="6630001" cy="1063501"/>
          </a:xfrm>
        </p:spPr>
        <p:txBody>
          <a:bodyPr lIns="45699" tIns="45699" rIns="45699" bIns="45699" anchor="ctr">
            <a:normAutofit/>
          </a:bodyPr>
          <a:lstStyle/>
          <a:p>
            <a:r>
              <a:rPr lang="es-MX" sz="3200" b="0" i="0" u="none" strike="noStrike" cap="none" spc="0" baseline="0" dirty="0">
                <a:uFillTx/>
                <a:latin typeface="Montserrat SemiBold"/>
                <a:ea typeface="Montserrat SemiBold"/>
                <a:cs typeface="Montserrat SemiBold"/>
                <a:sym typeface="Montserrat SemiBold"/>
              </a:rPr>
              <a:t>Diseño de la solución: arquitectura y módulos</a:t>
            </a:r>
          </a:p>
        </p:txBody>
      </p:sp>
      <p:sp>
        <p:nvSpPr>
          <p:cNvPr id="9" name="Rectangle 6">
            <a:extLst>
              <a:ext uri="{FF2B5EF4-FFF2-40B4-BE49-F238E27FC236}">
                <a16:creationId xmlns:a16="http://schemas.microsoft.com/office/drawing/2014/main" id="{8542842D-68CF-4661-379C-9405BC3B833C}"/>
              </a:ext>
            </a:extLst>
          </p:cNvPr>
          <p:cNvSpPr>
            <a:spLocks noChangeArrowheads="1"/>
          </p:cNvSpPr>
          <p:nvPr/>
        </p:nvSpPr>
        <p:spPr bwMode="auto">
          <a:xfrm>
            <a:off x="838200" y="1981200"/>
            <a:ext cx="10515600" cy="3979201"/>
          </a:xfrm>
          <a:prstGeom prst="rect">
            <a:avLst/>
          </a:prstGeom>
          <a:ln w="12700">
            <a:miter lim="4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45699" tIns="45699" rIns="45699" bIns="45699" numCol="1" anchorCtr="0" compatLnSpc="1">
            <a:prstTxWarp prst="textNoShape">
              <a:avLst/>
            </a:prstTxWarp>
            <a:normAutofit fontScale="55000" lnSpcReduction="20000"/>
          </a:bodyPr>
          <a:lstStyle/>
          <a:p>
            <a:pPr marL="457200" indent="-406400" eaLnBrk="0" fontAlgn="base">
              <a:lnSpc>
                <a:spcPct val="90000"/>
              </a:lnSpc>
              <a:spcBef>
                <a:spcPts val="1000"/>
              </a:spcBef>
              <a:buClr>
                <a:srgbClr val="5A5A5F"/>
              </a:buClr>
              <a:buSzPts val="2800"/>
              <a:buFont typeface="Montserrat Regular"/>
              <a:buChar char="•"/>
            </a:pPr>
            <a:r>
              <a:rPr lang="es-ES" sz="2200" b="1" dirty="0"/>
              <a:t>Arquitectura propuesta:</a:t>
            </a:r>
          </a:p>
          <a:p>
            <a:pPr marL="50800" eaLnBrk="0" fontAlgn="base">
              <a:lnSpc>
                <a:spcPct val="90000"/>
              </a:lnSpc>
              <a:spcBef>
                <a:spcPts val="1000"/>
              </a:spcBef>
              <a:buClr>
                <a:srgbClr val="5A5A5F"/>
              </a:buClr>
              <a:buSzPts val="2800"/>
            </a:pPr>
            <a:br>
              <a:rPr lang="es-ES" sz="2200" dirty="0"/>
            </a:br>
            <a:r>
              <a:rPr lang="es-ES" sz="2200" dirty="0">
                <a:solidFill>
                  <a:schemeClr val="tx1"/>
                </a:solidFill>
                <a:latin typeface="Montserrat Regular"/>
              </a:rPr>
              <a:t>La solución está basada en una infraestructura de red simulada en Cisco </a:t>
            </a:r>
            <a:r>
              <a:rPr lang="es-ES" sz="2200" dirty="0" err="1">
                <a:solidFill>
                  <a:schemeClr val="tx1"/>
                </a:solidFill>
                <a:latin typeface="Montserrat Regular"/>
              </a:rPr>
              <a:t>Packet</a:t>
            </a:r>
            <a:r>
              <a:rPr lang="es-ES" sz="2200" dirty="0">
                <a:solidFill>
                  <a:schemeClr val="tx1"/>
                </a:solidFill>
                <a:latin typeface="Montserrat Regular"/>
              </a:rPr>
              <a:t> </a:t>
            </a:r>
            <a:r>
              <a:rPr lang="es-ES" sz="2200" dirty="0" err="1">
                <a:solidFill>
                  <a:schemeClr val="tx1"/>
                </a:solidFill>
                <a:latin typeface="Montserrat Regular"/>
              </a:rPr>
              <a:t>Tracer</a:t>
            </a:r>
            <a:r>
              <a:rPr lang="es-ES" sz="2200" dirty="0">
                <a:solidFill>
                  <a:schemeClr val="tx1"/>
                </a:solidFill>
                <a:latin typeface="Montserrat Regular"/>
              </a:rPr>
              <a:t>, diseñada para mejorar la segmentación, el rendimiento y la comunicación entre las diferentes áreas institucionales. La arquitectura integra:</a:t>
            </a:r>
          </a:p>
          <a:p>
            <a:pPr marL="393700" indent="-342900" eaLnBrk="0" fontAlgn="base">
              <a:lnSpc>
                <a:spcPct val="90000"/>
              </a:lnSpc>
              <a:spcBef>
                <a:spcPts val="1000"/>
              </a:spcBef>
              <a:buClr>
                <a:srgbClr val="5A5A5F"/>
              </a:buClr>
              <a:buSzPts val="2800"/>
              <a:buFont typeface="+mj-lt"/>
              <a:buAutoNum type="arabicPeriod"/>
            </a:pPr>
            <a:r>
              <a:rPr lang="es-ES" sz="2200" dirty="0">
                <a:solidFill>
                  <a:schemeClr val="tx1"/>
                </a:solidFill>
                <a:latin typeface="Montserrat Regular"/>
              </a:rPr>
              <a:t>Switches capa 2 y capa 3: utilizados para la creación y administración de VLAN.</a:t>
            </a:r>
          </a:p>
          <a:p>
            <a:pPr marL="393700" indent="-342900" eaLnBrk="0" fontAlgn="base">
              <a:lnSpc>
                <a:spcPct val="90000"/>
              </a:lnSpc>
              <a:spcBef>
                <a:spcPts val="1000"/>
              </a:spcBef>
              <a:buClr>
                <a:srgbClr val="5A5A5F"/>
              </a:buClr>
              <a:buSzPts val="2800"/>
              <a:buFont typeface="+mj-lt"/>
              <a:buAutoNum type="arabicPeriod"/>
            </a:pPr>
            <a:r>
              <a:rPr lang="es-ES" sz="2200" dirty="0" err="1">
                <a:solidFill>
                  <a:schemeClr val="tx1"/>
                </a:solidFill>
                <a:latin typeface="Montserrat Regular"/>
              </a:rPr>
              <a:t>Routers</a:t>
            </a:r>
            <a:r>
              <a:rPr lang="es-ES" sz="2200" dirty="0">
                <a:solidFill>
                  <a:schemeClr val="tx1"/>
                </a:solidFill>
                <a:latin typeface="Montserrat Regular"/>
              </a:rPr>
              <a:t> con subinterfaces: para permitir la comunicación entre VLAN mediante enrutamiento interno.</a:t>
            </a:r>
          </a:p>
          <a:p>
            <a:pPr marL="393700" indent="-342900" eaLnBrk="0" fontAlgn="base">
              <a:lnSpc>
                <a:spcPct val="90000"/>
              </a:lnSpc>
              <a:spcBef>
                <a:spcPts val="1000"/>
              </a:spcBef>
              <a:buClr>
                <a:srgbClr val="5A5A5F"/>
              </a:buClr>
              <a:buSzPts val="2800"/>
              <a:buFont typeface="+mj-lt"/>
              <a:buAutoNum type="arabicPeriod"/>
            </a:pPr>
            <a:r>
              <a:rPr lang="es-ES" sz="2200" dirty="0">
                <a:solidFill>
                  <a:schemeClr val="tx1"/>
                </a:solidFill>
                <a:latin typeface="Montserrat Regular"/>
              </a:rPr>
              <a:t>Protocolo OSPF: configurado para optimizar el intercambio de rutas entre las diferentes redes.</a:t>
            </a:r>
          </a:p>
          <a:p>
            <a:pPr marL="393700" indent="-342900" eaLnBrk="0" fontAlgn="base">
              <a:lnSpc>
                <a:spcPct val="90000"/>
              </a:lnSpc>
              <a:spcBef>
                <a:spcPts val="1000"/>
              </a:spcBef>
              <a:buClr>
                <a:srgbClr val="5A5A5F"/>
              </a:buClr>
              <a:buSzPts val="2800"/>
              <a:buFont typeface="+mj-lt"/>
              <a:buAutoNum type="arabicPeriod"/>
            </a:pPr>
            <a:r>
              <a:rPr lang="es-ES" sz="2200" dirty="0">
                <a:solidFill>
                  <a:schemeClr val="tx1"/>
                </a:solidFill>
                <a:latin typeface="Montserrat Regular"/>
              </a:rPr>
              <a:t>Topología estructurada: basada en entidades como Hospital, Alcaldía, Colegio y Defensa Civil, interconectadas mediante una red jerárquica.</a:t>
            </a:r>
          </a:p>
          <a:p>
            <a:pPr marL="457200" lvl="0" indent="-406400" eaLnBrk="0" fontAlgn="base" hangingPunct="0">
              <a:lnSpc>
                <a:spcPct val="90000"/>
              </a:lnSpc>
              <a:spcBef>
                <a:spcPts val="1000"/>
              </a:spcBef>
              <a:buClr>
                <a:srgbClr val="5A5A5F"/>
              </a:buClr>
              <a:buSzPts val="2800"/>
              <a:buFont typeface="Montserrat Regular"/>
              <a:buChar char="•"/>
            </a:pPr>
            <a:r>
              <a:rPr kumimoji="0" lang="en-US" altLang="es-CO" sz="2200" b="1" normalizeH="0" dirty="0" err="1">
                <a:ln>
                  <a:noFill/>
                </a:ln>
                <a:solidFill>
                  <a:schemeClr val="tx1"/>
                </a:solidFill>
                <a:effectLst/>
                <a:latin typeface="Montserrat Regular"/>
                <a:sym typeface="Montserrat Regular"/>
              </a:rPr>
              <a:t>Módulos</a:t>
            </a:r>
            <a:r>
              <a:rPr kumimoji="0" lang="en-US" altLang="es-CO" sz="2200" b="1" normalizeH="0" dirty="0">
                <a:ln>
                  <a:noFill/>
                </a:ln>
                <a:solidFill>
                  <a:schemeClr val="tx1"/>
                </a:solidFill>
                <a:effectLst/>
                <a:latin typeface="Montserrat Regular"/>
                <a:sym typeface="Montserrat Regular"/>
              </a:rPr>
              <a:t> </a:t>
            </a:r>
            <a:r>
              <a:rPr kumimoji="0" lang="en-US" altLang="es-CO" sz="2200" b="1" normalizeH="0" dirty="0" err="1">
                <a:ln>
                  <a:noFill/>
                </a:ln>
                <a:solidFill>
                  <a:schemeClr val="tx1"/>
                </a:solidFill>
                <a:effectLst/>
                <a:latin typeface="Montserrat Regular"/>
                <a:sym typeface="Montserrat Regular"/>
              </a:rPr>
              <a:t>principales</a:t>
            </a:r>
            <a:r>
              <a:rPr kumimoji="0" lang="en-US" altLang="es-CO" sz="2200" b="1" normalizeH="0" dirty="0">
                <a:ln>
                  <a:noFill/>
                </a:ln>
                <a:solidFill>
                  <a:schemeClr val="tx1"/>
                </a:solidFill>
                <a:effectLst/>
                <a:latin typeface="Montserrat Regular"/>
                <a:sym typeface="Montserrat Regular"/>
              </a:rPr>
              <a:t>:</a:t>
            </a:r>
          </a:p>
          <a:p>
            <a:pPr marL="457200" lvl="0" indent="-406400" eaLnBrk="0" fontAlgn="base" hangingPunct="0">
              <a:lnSpc>
                <a:spcPct val="90000"/>
              </a:lnSpc>
              <a:spcBef>
                <a:spcPts val="1000"/>
              </a:spcBef>
              <a:buClr>
                <a:srgbClr val="5A5A5F"/>
              </a:buClr>
              <a:buSzPts val="2800"/>
              <a:buFont typeface="Montserrat Regular"/>
              <a:buChar char="•"/>
            </a:pPr>
            <a:endParaRPr kumimoji="0" lang="en-US" altLang="es-CO" sz="2200" b="1" normalizeH="0" dirty="0">
              <a:ln>
                <a:noFill/>
              </a:ln>
              <a:solidFill>
                <a:schemeClr val="tx1"/>
              </a:solidFill>
              <a:effectLst/>
              <a:latin typeface="Montserrat Regular"/>
              <a:sym typeface="Montserrat Regular"/>
            </a:endParaRPr>
          </a:p>
          <a:p>
            <a:pPr marL="393700" lvl="0" indent="-342900" eaLnBrk="0" fontAlgn="base">
              <a:lnSpc>
                <a:spcPct val="90000"/>
              </a:lnSpc>
              <a:spcBef>
                <a:spcPts val="1000"/>
              </a:spcBef>
              <a:buClr>
                <a:srgbClr val="5A5A5F"/>
              </a:buClr>
              <a:buSzPts val="2800"/>
              <a:buFont typeface="+mj-lt"/>
              <a:buAutoNum type="arabicPeriod"/>
            </a:pPr>
            <a:r>
              <a:rPr lang="es-CO" altLang="es-CO" sz="2200" dirty="0">
                <a:solidFill>
                  <a:schemeClr val="tx1"/>
                </a:solidFill>
                <a:latin typeface="Montserrat Regular"/>
              </a:rPr>
              <a:t>Segmentación lógica mediante VLAN: organización de usuarios, equipos y áreas institucionales en dominios independientes para mejorar la eficiencia del tráfico.</a:t>
            </a:r>
          </a:p>
          <a:p>
            <a:pPr marL="393700" lvl="0" indent="-342900" eaLnBrk="0" fontAlgn="base">
              <a:lnSpc>
                <a:spcPct val="90000"/>
              </a:lnSpc>
              <a:spcBef>
                <a:spcPts val="1000"/>
              </a:spcBef>
              <a:buClr>
                <a:srgbClr val="5A5A5F"/>
              </a:buClr>
              <a:buSzPts val="2800"/>
              <a:buFont typeface="+mj-lt"/>
              <a:buAutoNum type="arabicPeriod"/>
            </a:pPr>
            <a:r>
              <a:rPr lang="es-CO" altLang="es-CO" sz="2200" dirty="0">
                <a:solidFill>
                  <a:schemeClr val="tx1"/>
                </a:solidFill>
                <a:latin typeface="Montserrat Regular"/>
              </a:rPr>
              <a:t>Configuración de subinterfaces y direccionamiento IP: asignación de redes y subredes para permitir comunicación controlada entre las VLAN.</a:t>
            </a:r>
          </a:p>
          <a:p>
            <a:pPr marL="393700" lvl="0" indent="-342900" eaLnBrk="0" fontAlgn="base">
              <a:lnSpc>
                <a:spcPct val="90000"/>
              </a:lnSpc>
              <a:spcBef>
                <a:spcPts val="1000"/>
              </a:spcBef>
              <a:buClr>
                <a:srgbClr val="5A5A5F"/>
              </a:buClr>
              <a:buSzPts val="2800"/>
              <a:buFont typeface="+mj-lt"/>
              <a:buAutoNum type="arabicPeriod"/>
            </a:pPr>
            <a:r>
              <a:rPr lang="es-CO" altLang="es-CO" sz="2200" dirty="0">
                <a:solidFill>
                  <a:schemeClr val="tx1"/>
                </a:solidFill>
                <a:latin typeface="Montserrat Regular"/>
              </a:rPr>
              <a:t>Implementación del enrutamiento dinámico OSPF: optimización de rutas, rápida convergencia y administración eficiente del tráfico entre todas las áreas.</a:t>
            </a:r>
          </a:p>
          <a:p>
            <a:pPr marL="393700" lvl="0" indent="-342900" eaLnBrk="0" fontAlgn="base">
              <a:lnSpc>
                <a:spcPct val="90000"/>
              </a:lnSpc>
              <a:spcBef>
                <a:spcPts val="1000"/>
              </a:spcBef>
              <a:buClr>
                <a:srgbClr val="5A5A5F"/>
              </a:buClr>
              <a:buSzPts val="2800"/>
              <a:buFont typeface="+mj-lt"/>
              <a:buAutoNum type="arabicPeriod"/>
            </a:pPr>
            <a:r>
              <a:rPr lang="es-CO" altLang="es-CO" sz="2200" dirty="0">
                <a:solidFill>
                  <a:schemeClr val="tx1"/>
                </a:solidFill>
                <a:latin typeface="Montserrat Regular"/>
              </a:rPr>
              <a:t>Pruebas de conectividad y análisis de desempeño: verificación del funcionamiento de la red mediante ping, visualización de tablas de enrutamiento, estados OSPF y simulación de tráfico.</a:t>
            </a:r>
          </a:p>
          <a:p>
            <a:pPr marL="457200" lvl="0" indent="-406400" eaLnBrk="0" fontAlgn="base" hangingPunct="0">
              <a:lnSpc>
                <a:spcPct val="90000"/>
              </a:lnSpc>
              <a:spcBef>
                <a:spcPts val="1000"/>
              </a:spcBef>
              <a:buClr>
                <a:srgbClr val="5A5A5F"/>
              </a:buClr>
              <a:buSzPts val="2800"/>
              <a:buFont typeface="Montserrat Regular"/>
              <a:buChar char="•"/>
            </a:pPr>
            <a:endParaRPr kumimoji="0" lang="en-US" altLang="es-CO" sz="1800" b="1" normalizeH="0" dirty="0">
              <a:ln>
                <a:noFill/>
              </a:ln>
              <a:solidFill>
                <a:schemeClr val="tx1"/>
              </a:solidFill>
              <a:effectLst/>
              <a:latin typeface="Montserrat Regular"/>
              <a:sym typeface="Montserrat Regular"/>
            </a:endParaRPr>
          </a:p>
          <a:p>
            <a:pPr marL="50800" lvl="0" eaLnBrk="0" fontAlgn="base" hangingPunct="0">
              <a:lnSpc>
                <a:spcPct val="90000"/>
              </a:lnSpc>
              <a:spcBef>
                <a:spcPts val="1000"/>
              </a:spcBef>
              <a:buClr>
                <a:srgbClr val="5A5A5F"/>
              </a:buClr>
              <a:buSzPts val="2800"/>
            </a:pPr>
            <a:endParaRPr kumimoji="0" lang="en-US" altLang="es-CO" sz="1800" normalizeH="0" dirty="0">
              <a:ln>
                <a:noFill/>
              </a:ln>
              <a:solidFill>
                <a:schemeClr val="tx1"/>
              </a:solidFill>
              <a:effectLst/>
              <a:latin typeface="Montserrat Regular"/>
              <a:sym typeface="Montserrat Regular"/>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1EF8F-17BC-3059-CB2A-EBECE656511C}"/>
            </a:ext>
          </a:extLst>
        </p:cNvPr>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F7B46531-2AE1-F8A4-9D96-29F9FA4A7413}"/>
              </a:ext>
            </a:extLst>
          </p:cNvPr>
          <p:cNvGraphicFramePr/>
          <p:nvPr>
            <p:extLst>
              <p:ext uri="{D42A27DB-BD31-4B8C-83A1-F6EECF244321}">
                <p14:modId xmlns:p14="http://schemas.microsoft.com/office/powerpoint/2010/main" val="3151037920"/>
              </p:ext>
            </p:extLst>
          </p:nvPr>
        </p:nvGraphicFramePr>
        <p:xfrm>
          <a:off x="312176" y="374754"/>
          <a:ext cx="9152666" cy="1107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314" name="Picture 2">
            <a:extLst>
              <a:ext uri="{FF2B5EF4-FFF2-40B4-BE49-F238E27FC236}">
                <a16:creationId xmlns:a16="http://schemas.microsoft.com/office/drawing/2014/main" id="{A2585741-F5CC-EF58-6C53-5D6CF9EA00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1229193" y="2476966"/>
            <a:ext cx="9548735" cy="322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98351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A6A18-7464-6AEC-FBC8-C0489EA3A15F}"/>
            </a:ext>
          </a:extLst>
        </p:cNvPr>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076297EF-CF97-9A14-4C9C-4DBD2BB69A23}"/>
              </a:ext>
            </a:extLst>
          </p:cNvPr>
          <p:cNvGraphicFramePr/>
          <p:nvPr>
            <p:extLst>
              <p:ext uri="{D42A27DB-BD31-4B8C-83A1-F6EECF244321}">
                <p14:modId xmlns:p14="http://schemas.microsoft.com/office/powerpoint/2010/main" val="2756039927"/>
              </p:ext>
            </p:extLst>
          </p:nvPr>
        </p:nvGraphicFramePr>
        <p:xfrm>
          <a:off x="312177" y="374754"/>
          <a:ext cx="4362450" cy="1107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338" name="Picture 2">
            <a:extLst>
              <a:ext uri="{FF2B5EF4-FFF2-40B4-BE49-F238E27FC236}">
                <a16:creationId xmlns:a16="http://schemas.microsoft.com/office/drawing/2014/main" id="{DB1A84EE-F7A9-1F24-25F5-B4B16DAE69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2342147" y="2018084"/>
            <a:ext cx="8261685" cy="4528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90684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C10B5-32BD-7F61-06BA-85402D0A4814}"/>
            </a:ext>
          </a:extLst>
        </p:cNvPr>
        <p:cNvGrpSpPr/>
        <p:nvPr/>
      </p:nvGrpSpPr>
      <p:grpSpPr>
        <a:xfrm>
          <a:off x="0" y="0"/>
          <a:ext cx="0" cy="0"/>
          <a:chOff x="0" y="0"/>
          <a:chExt cx="0" cy="0"/>
        </a:xfrm>
      </p:grpSpPr>
      <p:sp>
        <p:nvSpPr>
          <p:cNvPr id="170" name="Google Shape;93;p3">
            <a:extLst>
              <a:ext uri="{FF2B5EF4-FFF2-40B4-BE49-F238E27FC236}">
                <a16:creationId xmlns:a16="http://schemas.microsoft.com/office/drawing/2014/main" id="{C8C79453-B542-A177-54B9-80BA33981E40}"/>
              </a:ext>
            </a:extLst>
          </p:cNvPr>
          <p:cNvSpPr txBox="1">
            <a:spLocks noGrp="1"/>
          </p:cNvSpPr>
          <p:nvPr>
            <p:ph type="title"/>
          </p:nvPr>
        </p:nvSpPr>
        <p:spPr>
          <a:xfrm>
            <a:off x="4779050" y="225608"/>
            <a:ext cx="6630001" cy="1063501"/>
          </a:xfrm>
        </p:spPr>
        <p:txBody>
          <a:bodyPr lIns="45699" tIns="45699" rIns="45699" bIns="45699" anchor="ctr">
            <a:normAutofit/>
          </a:bodyPr>
          <a:lstStyle/>
          <a:p>
            <a:r>
              <a:rPr lang="es-ES" sz="3200" dirty="0"/>
              <a:t>Prototipo de red y flujo de uso</a:t>
            </a:r>
            <a:endParaRPr lang="es-MX" sz="3300" b="0" i="0" u="none" strike="noStrike" cap="none" spc="0" baseline="0" dirty="0">
              <a:uFillTx/>
              <a:latin typeface="Montserrat SemiBold"/>
              <a:ea typeface="Montserrat SemiBold"/>
              <a:cs typeface="Montserrat SemiBold"/>
              <a:sym typeface="Montserrat SemiBold"/>
            </a:endParaRPr>
          </a:p>
        </p:txBody>
      </p:sp>
      <p:sp>
        <p:nvSpPr>
          <p:cNvPr id="2" name="Rectangle 1">
            <a:extLst>
              <a:ext uri="{FF2B5EF4-FFF2-40B4-BE49-F238E27FC236}">
                <a16:creationId xmlns:a16="http://schemas.microsoft.com/office/drawing/2014/main" id="{9584CCAC-8D02-C163-9A3A-09C6316203C4}"/>
              </a:ext>
            </a:extLst>
          </p:cNvPr>
          <p:cNvSpPr>
            <a:spLocks noChangeArrowheads="1"/>
          </p:cNvSpPr>
          <p:nvPr/>
        </p:nvSpPr>
        <p:spPr bwMode="auto">
          <a:xfrm>
            <a:off x="838200" y="1981200"/>
            <a:ext cx="10515600" cy="3979201"/>
          </a:xfrm>
          <a:prstGeom prst="rect">
            <a:avLst/>
          </a:prstGeom>
          <a:ln w="12700">
            <a:miter lim="400000"/>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45699" tIns="45699" rIns="45699" bIns="45699" numCol="1" anchorCtr="0" compatLnSpc="1">
            <a:prstTxWarp prst="textNoShape">
              <a:avLst/>
            </a:prstTxWarp>
            <a:normAutofit/>
          </a:bodyPr>
          <a:lstStyle/>
          <a:p>
            <a:pPr marL="50800" lvl="0" eaLnBrk="0" fontAlgn="base" hangingPunct="0">
              <a:lnSpc>
                <a:spcPct val="90000"/>
              </a:lnSpc>
              <a:spcBef>
                <a:spcPts val="1000"/>
              </a:spcBef>
              <a:buClr>
                <a:srgbClr val="5A5A5F"/>
              </a:buClr>
              <a:buSzPts val="2800"/>
            </a:pPr>
            <a:r>
              <a:rPr kumimoji="0" lang="en-US" altLang="es-CO" sz="1600" b="1" normalizeH="0" dirty="0" err="1">
                <a:ln>
                  <a:noFill/>
                </a:ln>
                <a:solidFill>
                  <a:schemeClr val="tx1"/>
                </a:solidFill>
                <a:effectLst/>
                <a:latin typeface="Montserrat Regular"/>
                <a:sym typeface="Montserrat Regular"/>
              </a:rPr>
              <a:t>Pantallas</a:t>
            </a:r>
            <a:r>
              <a:rPr kumimoji="0" lang="en-US" altLang="es-CO" sz="1600" b="1" normalizeH="0" dirty="0">
                <a:ln>
                  <a:noFill/>
                </a:ln>
                <a:solidFill>
                  <a:schemeClr val="tx1"/>
                </a:solidFill>
                <a:effectLst/>
                <a:latin typeface="Montserrat Regular"/>
                <a:sym typeface="Montserrat Regular"/>
              </a:rPr>
              <a:t> clave del </a:t>
            </a:r>
            <a:r>
              <a:rPr kumimoji="0" lang="en-US" altLang="es-CO" sz="1600" b="1" normalizeH="0" dirty="0" err="1">
                <a:ln>
                  <a:noFill/>
                </a:ln>
                <a:solidFill>
                  <a:schemeClr val="tx1"/>
                </a:solidFill>
                <a:effectLst/>
                <a:latin typeface="Montserrat Regular"/>
                <a:sym typeface="Montserrat Regular"/>
              </a:rPr>
              <a:t>prototipo</a:t>
            </a:r>
            <a:r>
              <a:rPr kumimoji="0" lang="en-US" altLang="es-CO" sz="1600" b="1" normalizeH="0" dirty="0">
                <a:ln>
                  <a:noFill/>
                </a:ln>
                <a:solidFill>
                  <a:schemeClr val="tx1"/>
                </a:solidFill>
                <a:effectLst/>
                <a:latin typeface="Montserrat Regular"/>
                <a:sym typeface="Montserrat Regular"/>
              </a:rPr>
              <a:t>:</a:t>
            </a:r>
          </a:p>
          <a:p>
            <a:pPr marL="508000" indent="-457200" eaLnBrk="0" fontAlgn="base">
              <a:lnSpc>
                <a:spcPct val="90000"/>
              </a:lnSpc>
              <a:spcBef>
                <a:spcPts val="1000"/>
              </a:spcBef>
              <a:buClr>
                <a:srgbClr val="5A5A5F"/>
              </a:buClr>
              <a:buSzPts val="2800"/>
              <a:buFont typeface="+mj-lt"/>
              <a:buAutoNum type="arabicPeriod"/>
            </a:pPr>
            <a:r>
              <a:rPr lang="es-ES" sz="1600" dirty="0">
                <a:solidFill>
                  <a:schemeClr val="tx1"/>
                </a:solidFill>
                <a:latin typeface="Montserrat Regular"/>
              </a:rPr>
              <a:t>Configuración de VLAN en los switches.</a:t>
            </a:r>
          </a:p>
          <a:p>
            <a:pPr marL="508000" indent="-457200" eaLnBrk="0" fontAlgn="base">
              <a:lnSpc>
                <a:spcPct val="90000"/>
              </a:lnSpc>
              <a:spcBef>
                <a:spcPts val="1000"/>
              </a:spcBef>
              <a:buClr>
                <a:srgbClr val="5A5A5F"/>
              </a:buClr>
              <a:buSzPts val="2800"/>
              <a:buFont typeface="+mj-lt"/>
              <a:buAutoNum type="arabicPeriod"/>
            </a:pPr>
            <a:r>
              <a:rPr lang="es-ES" sz="1600" dirty="0">
                <a:solidFill>
                  <a:schemeClr val="tx1"/>
                </a:solidFill>
                <a:latin typeface="Montserrat Regular"/>
              </a:rPr>
              <a:t>Creación de subinterfaces y asignación de direcciones IP.</a:t>
            </a:r>
          </a:p>
          <a:p>
            <a:pPr marL="508000" indent="-457200" eaLnBrk="0" fontAlgn="base">
              <a:lnSpc>
                <a:spcPct val="90000"/>
              </a:lnSpc>
              <a:spcBef>
                <a:spcPts val="1000"/>
              </a:spcBef>
              <a:buClr>
                <a:srgbClr val="5A5A5F"/>
              </a:buClr>
              <a:buSzPts val="2800"/>
              <a:buFont typeface="+mj-lt"/>
              <a:buAutoNum type="arabicPeriod"/>
            </a:pPr>
            <a:r>
              <a:rPr lang="es-ES" sz="1600" dirty="0">
                <a:solidFill>
                  <a:schemeClr val="tx1"/>
                </a:solidFill>
                <a:latin typeface="Montserrat Regular"/>
              </a:rPr>
              <a:t>Activación y verificación del protocolo OSPF.</a:t>
            </a:r>
          </a:p>
          <a:p>
            <a:pPr marL="508000" indent="-457200" eaLnBrk="0" fontAlgn="base">
              <a:lnSpc>
                <a:spcPct val="90000"/>
              </a:lnSpc>
              <a:spcBef>
                <a:spcPts val="1000"/>
              </a:spcBef>
              <a:buClr>
                <a:srgbClr val="5A5A5F"/>
              </a:buClr>
              <a:buSzPts val="2800"/>
              <a:buFont typeface="+mj-lt"/>
              <a:buAutoNum type="arabicPeriod"/>
            </a:pPr>
            <a:r>
              <a:rPr lang="es-ES" sz="1600" dirty="0">
                <a:solidFill>
                  <a:schemeClr val="tx1"/>
                </a:solidFill>
                <a:latin typeface="Montserrat Regular"/>
              </a:rPr>
              <a:t>Pruebas de conectividad entre las diferentes áreas de la red.</a:t>
            </a:r>
          </a:p>
          <a:p>
            <a:pPr marL="50800" lvl="0" eaLnBrk="0" fontAlgn="base" hangingPunct="0">
              <a:lnSpc>
                <a:spcPct val="90000"/>
              </a:lnSpc>
              <a:spcBef>
                <a:spcPts val="1000"/>
              </a:spcBef>
              <a:buClr>
                <a:srgbClr val="5A5A5F"/>
              </a:buClr>
              <a:buSzPts val="2800"/>
            </a:pPr>
            <a:endParaRPr kumimoji="0" lang="en-US" altLang="es-CO" sz="1600" normalizeH="0" dirty="0">
              <a:ln>
                <a:noFill/>
              </a:ln>
              <a:solidFill>
                <a:schemeClr val="tx1"/>
              </a:solidFill>
              <a:effectLst/>
              <a:latin typeface="Montserrat Regular"/>
              <a:sym typeface="Montserrat Regular"/>
            </a:endParaRPr>
          </a:p>
          <a:p>
            <a:pPr marL="50800" lvl="0" eaLnBrk="0" fontAlgn="base" hangingPunct="0">
              <a:lnSpc>
                <a:spcPct val="90000"/>
              </a:lnSpc>
              <a:spcBef>
                <a:spcPts val="1000"/>
              </a:spcBef>
              <a:buClr>
                <a:srgbClr val="5A5A5F"/>
              </a:buClr>
              <a:buSzPts val="2800"/>
            </a:pPr>
            <a:r>
              <a:rPr kumimoji="0" lang="en-US" altLang="es-CO" sz="1600" b="1" normalizeH="0" dirty="0" err="1">
                <a:ln>
                  <a:noFill/>
                </a:ln>
                <a:solidFill>
                  <a:schemeClr val="tx1"/>
                </a:solidFill>
                <a:effectLst/>
                <a:latin typeface="Montserrat Regular"/>
                <a:sym typeface="Montserrat Regular"/>
              </a:rPr>
              <a:t>Flujo</a:t>
            </a:r>
            <a:r>
              <a:rPr kumimoji="0" lang="en-US" altLang="es-CO" sz="1600" b="1" normalizeH="0" dirty="0">
                <a:ln>
                  <a:noFill/>
                </a:ln>
                <a:solidFill>
                  <a:schemeClr val="tx1"/>
                </a:solidFill>
                <a:effectLst/>
                <a:latin typeface="Montserrat Regular"/>
                <a:sym typeface="Montserrat Regular"/>
              </a:rPr>
              <a:t> general de </a:t>
            </a:r>
            <a:r>
              <a:rPr kumimoji="0" lang="en-US" altLang="es-CO" sz="1600" b="1" normalizeH="0" dirty="0" err="1">
                <a:ln>
                  <a:noFill/>
                </a:ln>
                <a:solidFill>
                  <a:schemeClr val="tx1"/>
                </a:solidFill>
                <a:effectLst/>
                <a:latin typeface="Montserrat Regular"/>
                <a:sym typeface="Montserrat Regular"/>
              </a:rPr>
              <a:t>uso</a:t>
            </a:r>
            <a:r>
              <a:rPr kumimoji="0" lang="en-US" altLang="es-CO" sz="1600" b="1" normalizeH="0" dirty="0">
                <a:ln>
                  <a:noFill/>
                </a:ln>
                <a:solidFill>
                  <a:schemeClr val="tx1"/>
                </a:solidFill>
                <a:effectLst/>
                <a:latin typeface="Montserrat Regular"/>
                <a:sym typeface="Montserrat Regular"/>
              </a:rPr>
              <a:t>:</a:t>
            </a:r>
          </a:p>
          <a:p>
            <a:pPr marL="508000" lvl="0" indent="-457200" eaLnBrk="0" fontAlgn="base">
              <a:lnSpc>
                <a:spcPct val="90000"/>
              </a:lnSpc>
              <a:spcBef>
                <a:spcPts val="1000"/>
              </a:spcBef>
              <a:buClr>
                <a:srgbClr val="5A5A5F"/>
              </a:buClr>
              <a:buSzPts val="2800"/>
              <a:buFont typeface="+mj-lt"/>
              <a:buAutoNum type="arabicPeriod"/>
            </a:pPr>
            <a:r>
              <a:rPr lang="es-CO" altLang="es-CO" sz="1600" dirty="0">
                <a:solidFill>
                  <a:schemeClr val="tx1"/>
                </a:solidFill>
                <a:latin typeface="Montserrat Regular"/>
              </a:rPr>
              <a:t>Se define la segmentación de red mediante VLAN según cada área institucional.</a:t>
            </a:r>
          </a:p>
          <a:p>
            <a:pPr marL="508000" lvl="0" indent="-457200" eaLnBrk="0" fontAlgn="base">
              <a:lnSpc>
                <a:spcPct val="90000"/>
              </a:lnSpc>
              <a:spcBef>
                <a:spcPts val="1000"/>
              </a:spcBef>
              <a:buClr>
                <a:srgbClr val="5A5A5F"/>
              </a:buClr>
              <a:buSzPts val="2800"/>
              <a:buFont typeface="+mj-lt"/>
              <a:buAutoNum type="arabicPeriod"/>
            </a:pPr>
            <a:r>
              <a:rPr lang="es-CO" altLang="es-CO" sz="1600" dirty="0">
                <a:solidFill>
                  <a:schemeClr val="tx1"/>
                </a:solidFill>
                <a:latin typeface="Montserrat Regular"/>
              </a:rPr>
              <a:t>El </a:t>
            </a:r>
            <a:r>
              <a:rPr lang="es-CO" altLang="es-CO" sz="1600" dirty="0" err="1">
                <a:solidFill>
                  <a:schemeClr val="tx1"/>
                </a:solidFill>
                <a:latin typeface="Montserrat Regular"/>
              </a:rPr>
              <a:t>router</a:t>
            </a:r>
            <a:r>
              <a:rPr lang="es-CO" altLang="es-CO" sz="1600" dirty="0">
                <a:solidFill>
                  <a:schemeClr val="tx1"/>
                </a:solidFill>
                <a:latin typeface="Montserrat Regular"/>
              </a:rPr>
              <a:t> establece comunicación entre VLAN mediante subinterfaces.</a:t>
            </a:r>
          </a:p>
          <a:p>
            <a:pPr marL="508000" lvl="0" indent="-457200" eaLnBrk="0" fontAlgn="base">
              <a:lnSpc>
                <a:spcPct val="90000"/>
              </a:lnSpc>
              <a:spcBef>
                <a:spcPts val="1000"/>
              </a:spcBef>
              <a:buClr>
                <a:srgbClr val="5A5A5F"/>
              </a:buClr>
              <a:buSzPts val="2800"/>
              <a:buFont typeface="+mj-lt"/>
              <a:buAutoNum type="arabicPeriod"/>
            </a:pPr>
            <a:r>
              <a:rPr lang="es-CO" altLang="es-CO" sz="1600" dirty="0">
                <a:solidFill>
                  <a:schemeClr val="tx1"/>
                </a:solidFill>
                <a:latin typeface="Montserrat Regular"/>
              </a:rPr>
              <a:t>OSPF intercambia rutas y asegura conectividad estable entre todas las redes.</a:t>
            </a:r>
          </a:p>
          <a:p>
            <a:pPr marL="508000" lvl="0" indent="-457200" eaLnBrk="0" fontAlgn="base">
              <a:lnSpc>
                <a:spcPct val="90000"/>
              </a:lnSpc>
              <a:spcBef>
                <a:spcPts val="1000"/>
              </a:spcBef>
              <a:buClr>
                <a:srgbClr val="5A5A5F"/>
              </a:buClr>
              <a:buSzPts val="2800"/>
              <a:buFont typeface="+mj-lt"/>
              <a:buAutoNum type="arabicPeriod"/>
            </a:pPr>
            <a:r>
              <a:rPr lang="es-CO" altLang="es-CO" sz="1600" dirty="0">
                <a:solidFill>
                  <a:schemeClr val="tx1"/>
                </a:solidFill>
                <a:latin typeface="Montserrat Regular"/>
              </a:rPr>
              <a:t>Se realizan pruebas de ping y análisis de tablas para validar el funcionamiento del prototipo</a:t>
            </a:r>
            <a:endParaRPr lang="en-US" altLang="es-CO" sz="1600" dirty="0">
              <a:solidFill>
                <a:schemeClr val="tx1"/>
              </a:solidFill>
              <a:latin typeface="Montserrat Regular"/>
              <a:sym typeface="Montserrat Regular"/>
            </a:endParaRPr>
          </a:p>
          <a:p>
            <a:pPr marL="508000" lvl="0" indent="-457200" eaLnBrk="0" fontAlgn="base" hangingPunct="0">
              <a:lnSpc>
                <a:spcPct val="90000"/>
              </a:lnSpc>
              <a:spcBef>
                <a:spcPts val="1000"/>
              </a:spcBef>
              <a:buClr>
                <a:srgbClr val="5A5A5F"/>
              </a:buClr>
              <a:buSzPts val="2800"/>
              <a:buFont typeface="Arial" panose="020B0604020202020204" pitchFamily="34" charset="0"/>
              <a:buChar char="•"/>
            </a:pPr>
            <a:endParaRPr lang="en-US" altLang="es-CO" dirty="0">
              <a:sym typeface="Montserrat Regular"/>
            </a:endParaRPr>
          </a:p>
        </p:txBody>
      </p:sp>
      <p:sp>
        <p:nvSpPr>
          <p:cNvPr id="3" name="Rectangle 1">
            <a:extLst>
              <a:ext uri="{FF2B5EF4-FFF2-40B4-BE49-F238E27FC236}">
                <a16:creationId xmlns:a16="http://schemas.microsoft.com/office/drawing/2014/main" id="{FFAE1411-4318-9FB9-070E-F4EEB58C0CF2}"/>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31200885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8B311-09C0-8BD4-4769-7313D6B29360}"/>
            </a:ext>
          </a:extLst>
        </p:cNvPr>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0FDE8020-F65A-9FC1-58BA-620E7A5925B7}"/>
              </a:ext>
            </a:extLst>
          </p:cNvPr>
          <p:cNvGraphicFramePr/>
          <p:nvPr>
            <p:extLst>
              <p:ext uri="{D42A27DB-BD31-4B8C-83A1-F6EECF244321}">
                <p14:modId xmlns:p14="http://schemas.microsoft.com/office/powerpoint/2010/main" val="942370677"/>
              </p:ext>
            </p:extLst>
          </p:nvPr>
        </p:nvGraphicFramePr>
        <p:xfrm>
          <a:off x="776872" y="492487"/>
          <a:ext cx="7423546" cy="1151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5364" name="Picture 4">
            <a:extLst>
              <a:ext uri="{FF2B5EF4-FFF2-40B4-BE49-F238E27FC236}">
                <a16:creationId xmlns:a16="http://schemas.microsoft.com/office/drawing/2014/main" id="{E16AB653-7411-1798-BFDC-92EB243E15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230511" y="2296145"/>
            <a:ext cx="3737871" cy="3846277"/>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a:extLst>
              <a:ext uri="{FF2B5EF4-FFF2-40B4-BE49-F238E27FC236}">
                <a16:creationId xmlns:a16="http://schemas.microsoft.com/office/drawing/2014/main" id="{D2A2BDC1-2034-7A33-40DD-C05DBDD83D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8454263" y="2334639"/>
            <a:ext cx="3737871" cy="3729278"/>
          </a:xfrm>
          <a:prstGeom prst="rect">
            <a:avLst/>
          </a:prstGeom>
          <a:noFill/>
          <a:extLst>
            <a:ext uri="{909E8E84-426E-40DD-AFC4-6F175D3DCCD1}">
              <a14:hiddenFill xmlns:a14="http://schemas.microsoft.com/office/drawing/2010/main">
                <a:solidFill>
                  <a:srgbClr val="FFFFFF"/>
                </a:solidFill>
              </a14:hiddenFill>
            </a:ext>
          </a:extLst>
        </p:spPr>
      </p:pic>
      <p:pic>
        <p:nvPicPr>
          <p:cNvPr id="15368" name="Picture 8">
            <a:extLst>
              <a:ext uri="{FF2B5EF4-FFF2-40B4-BE49-F238E27FC236}">
                <a16:creationId xmlns:a16="http://schemas.microsoft.com/office/drawing/2014/main" id="{3148DF00-0631-1495-6AD6-13217F164BF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4299437" y="2334639"/>
            <a:ext cx="3900981" cy="3807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1941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A3972-C2ED-5457-306C-87181BBB9C92}"/>
            </a:ext>
          </a:extLst>
        </p:cNvPr>
        <p:cNvGrpSpPr/>
        <p:nvPr/>
      </p:nvGrpSpPr>
      <p:grpSpPr>
        <a:xfrm>
          <a:off x="0" y="0"/>
          <a:ext cx="0" cy="0"/>
          <a:chOff x="0" y="0"/>
          <a:chExt cx="0" cy="0"/>
        </a:xfrm>
      </p:grpSpPr>
      <p:graphicFrame>
        <p:nvGraphicFramePr>
          <p:cNvPr id="3" name="Diagrama 2">
            <a:extLst>
              <a:ext uri="{FF2B5EF4-FFF2-40B4-BE49-F238E27FC236}">
                <a16:creationId xmlns:a16="http://schemas.microsoft.com/office/drawing/2014/main" id="{AD08BEFD-8A16-B2DD-6E50-773C9A6FD440}"/>
              </a:ext>
            </a:extLst>
          </p:cNvPr>
          <p:cNvGraphicFramePr/>
          <p:nvPr>
            <p:extLst>
              <p:ext uri="{D42A27DB-BD31-4B8C-83A1-F6EECF244321}">
                <p14:modId xmlns:p14="http://schemas.microsoft.com/office/powerpoint/2010/main" val="125581791"/>
              </p:ext>
            </p:extLst>
          </p:nvPr>
        </p:nvGraphicFramePr>
        <p:xfrm>
          <a:off x="776872" y="492487"/>
          <a:ext cx="8014202" cy="17838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300" name="Picture 12">
            <a:extLst>
              <a:ext uri="{FF2B5EF4-FFF2-40B4-BE49-F238E27FC236}">
                <a16:creationId xmlns:a16="http://schemas.microsoft.com/office/drawing/2014/main" id="{956877D0-A1DA-ABF0-57E4-FF549FC8330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p:blipFill>
        <p:spPr bwMode="auto">
          <a:xfrm>
            <a:off x="441008" y="2591907"/>
            <a:ext cx="7074868" cy="397961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2">
            <a:extLst>
              <a:ext uri="{FF2B5EF4-FFF2-40B4-BE49-F238E27FC236}">
                <a16:creationId xmlns:a16="http://schemas.microsoft.com/office/drawing/2014/main" id="{D1C1599F-DD66-5C60-671E-D84EC3E046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7786538" y="2591907"/>
            <a:ext cx="3964454" cy="4009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613939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699D4-E0D9-2EE3-274A-93F2EFE17742}"/>
            </a:ext>
          </a:extLst>
        </p:cNvPr>
        <p:cNvGrpSpPr/>
        <p:nvPr/>
      </p:nvGrpSpPr>
      <p:grpSpPr>
        <a:xfrm>
          <a:off x="0" y="0"/>
          <a:ext cx="0" cy="0"/>
          <a:chOff x="0" y="0"/>
          <a:chExt cx="0" cy="0"/>
        </a:xfrm>
      </p:grpSpPr>
      <p:graphicFrame>
        <p:nvGraphicFramePr>
          <p:cNvPr id="3" name="Diagrama 2">
            <a:extLst>
              <a:ext uri="{FF2B5EF4-FFF2-40B4-BE49-F238E27FC236}">
                <a16:creationId xmlns:a16="http://schemas.microsoft.com/office/drawing/2014/main" id="{D61E1059-AB1D-F33B-4465-A697ED93E7E3}"/>
              </a:ext>
            </a:extLst>
          </p:cNvPr>
          <p:cNvGraphicFramePr/>
          <p:nvPr>
            <p:extLst>
              <p:ext uri="{D42A27DB-BD31-4B8C-83A1-F6EECF244321}">
                <p14:modId xmlns:p14="http://schemas.microsoft.com/office/powerpoint/2010/main" val="3573686962"/>
              </p:ext>
            </p:extLst>
          </p:nvPr>
        </p:nvGraphicFramePr>
        <p:xfrm>
          <a:off x="3058151" y="365125"/>
          <a:ext cx="5495914" cy="12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 Placeholder 1">
            <a:extLst>
              <a:ext uri="{FF2B5EF4-FFF2-40B4-BE49-F238E27FC236}">
                <a16:creationId xmlns:a16="http://schemas.microsoft.com/office/drawing/2014/main" id="{754F715D-E72A-D062-7978-22E7EB798AA3}"/>
              </a:ext>
            </a:extLst>
          </p:cNvPr>
          <p:cNvSpPr>
            <a:spLocks noGrp="1" noChangeArrowheads="1"/>
          </p:cNvSpPr>
          <p:nvPr>
            <p:ph type="body" sz="half" idx="1"/>
          </p:nvPr>
        </p:nvSpPr>
        <p:spPr bwMode="auto">
          <a:xfrm>
            <a:off x="2040225" y="1753116"/>
            <a:ext cx="9180226"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ES" sz="1400" b="1" dirty="0"/>
              <a:t>Resultados de las pruebas técnicas:</a:t>
            </a:r>
            <a:br>
              <a:rPr lang="es-ES" sz="1400" dirty="0"/>
            </a:br>
            <a:r>
              <a:rPr lang="es-ES" sz="1400" dirty="0"/>
              <a:t>Las pruebas realizadas en el entorno simulado permitieron validar el correcto funcionamiento de la infraestructura propuesta. Se comprobó la </a:t>
            </a:r>
            <a:r>
              <a:rPr lang="es-ES" sz="1400" b="1" dirty="0"/>
              <a:t>comunicación exitosa entre todas las VLAN</a:t>
            </a:r>
            <a:r>
              <a:rPr lang="es-ES" sz="1400" dirty="0"/>
              <a:t>, la correcta </a:t>
            </a:r>
            <a:r>
              <a:rPr lang="es-ES" sz="1400" b="1" dirty="0"/>
              <a:t>convergencia del protocolo OSPF</a:t>
            </a:r>
            <a:r>
              <a:rPr lang="es-ES" sz="1400" dirty="0"/>
              <a:t> y la estabilidad en el intercambio de rutas. Los análisis de conectividad (ping, rutas, tablas de enrutamiento) mostraron una disminución de la latencia y un flujo más eficiente del tráfico interno.</a:t>
            </a:r>
          </a:p>
          <a:p>
            <a:r>
              <a:rPr lang="es-ES" sz="1400" b="1" dirty="0"/>
              <a:t>Resultados de la validación con usuarios:</a:t>
            </a:r>
            <a:br>
              <a:rPr lang="es-ES" sz="1400" dirty="0"/>
            </a:br>
            <a:r>
              <a:rPr lang="es-ES" sz="1400" dirty="0"/>
              <a:t>Los participantes evaluaron el prototipo de red simulada en </a:t>
            </a:r>
            <a:r>
              <a:rPr lang="es-ES" sz="1400" dirty="0" err="1"/>
              <a:t>Packet</a:t>
            </a:r>
            <a:r>
              <a:rPr lang="es-ES" sz="1400" dirty="0"/>
              <a:t> </a:t>
            </a:r>
            <a:r>
              <a:rPr lang="es-ES" sz="1400" dirty="0" err="1"/>
              <a:t>Tracer</a:t>
            </a:r>
            <a:r>
              <a:rPr lang="es-ES" sz="1400" dirty="0"/>
              <a:t>, destacando:</a:t>
            </a:r>
          </a:p>
          <a:p>
            <a:r>
              <a:rPr lang="es-ES" sz="1400" b="1" dirty="0"/>
              <a:t>Organización lógica de la red:</a:t>
            </a:r>
            <a:r>
              <a:rPr lang="es-ES" sz="1400" dirty="0"/>
              <a:t> percibida como clara y coherente.</a:t>
            </a:r>
          </a:p>
          <a:p>
            <a:r>
              <a:rPr lang="es-ES" sz="1400" b="1" dirty="0"/>
              <a:t>Mejoras en la conectividad:</a:t>
            </a:r>
            <a:r>
              <a:rPr lang="es-ES" sz="1400" dirty="0"/>
              <a:t> la mayoría identificó estabilidad en la comunicación entre las áreas.</a:t>
            </a:r>
          </a:p>
          <a:p>
            <a:r>
              <a:rPr lang="es-ES" sz="1400" b="1" dirty="0"/>
              <a:t>Funcionamiento del enrutamiento:</a:t>
            </a:r>
            <a:r>
              <a:rPr lang="es-ES" sz="1400" dirty="0"/>
              <a:t> se reportó una percepción positiva sobre la rapidez y eficiencia del protocolo OSPF.</a:t>
            </a:r>
          </a:p>
          <a:p>
            <a:r>
              <a:rPr lang="es-ES" sz="1400" b="1" dirty="0"/>
              <a:t>Segmentación mediante VLAN:</a:t>
            </a:r>
            <a:r>
              <a:rPr lang="es-ES" sz="1400" dirty="0"/>
              <a:t> valorada como una mejora significativa en seguridad y administración del tráfico.</a:t>
            </a:r>
          </a:p>
          <a:p>
            <a:pPr marL="114300" indent="0">
              <a:buNone/>
            </a:pPr>
            <a:br>
              <a:rPr lang="es-ES" sz="1400" dirty="0"/>
            </a:br>
            <a:r>
              <a:rPr lang="es-ES" sz="1400" dirty="0"/>
              <a:t>Los resultados respaldan la </a:t>
            </a:r>
            <a:r>
              <a:rPr lang="es-ES" sz="1400" b="1" dirty="0"/>
              <a:t>viabilidad técnica</a:t>
            </a:r>
            <a:r>
              <a:rPr lang="es-ES" sz="1400" dirty="0"/>
              <a:t> de la solución, demostrando que la segmentación mediante VLAN y la implementación de OSPF mejoran notablemente el rendimiento de la red simulada. Asimismo, se identificaron oportunidades de mejora en la ampliación de la topología, la incorporación de redundancia y la implementación de herramientas de monitoreo para futuras iteraciones.</a:t>
            </a:r>
          </a:p>
        </p:txBody>
      </p:sp>
    </p:spTree>
    <p:extLst>
      <p:ext uri="{BB962C8B-B14F-4D97-AF65-F5344CB8AC3E}">
        <p14:creationId xmlns:p14="http://schemas.microsoft.com/office/powerpoint/2010/main" val="49964006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6B6-79A2-2417-1E70-D7F8EB0FDCC2}"/>
            </a:ext>
          </a:extLst>
        </p:cNvPr>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E097EF4A-1935-DF2D-DB3E-48345EF762EE}"/>
              </a:ext>
            </a:extLst>
          </p:cNvPr>
          <p:cNvGraphicFramePr/>
          <p:nvPr>
            <p:extLst>
              <p:ext uri="{D42A27DB-BD31-4B8C-83A1-F6EECF244321}">
                <p14:modId xmlns:p14="http://schemas.microsoft.com/office/powerpoint/2010/main" val="3600455072"/>
              </p:ext>
            </p:extLst>
          </p:nvPr>
        </p:nvGraphicFramePr>
        <p:xfrm>
          <a:off x="2389811" y="382925"/>
          <a:ext cx="7058989" cy="10635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1">
            <a:extLst>
              <a:ext uri="{FF2B5EF4-FFF2-40B4-BE49-F238E27FC236}">
                <a16:creationId xmlns:a16="http://schemas.microsoft.com/office/drawing/2014/main" id="{3397C594-8A07-5CE3-57D6-3562579CB018}"/>
              </a:ext>
            </a:extLst>
          </p:cNvPr>
          <p:cNvSpPr>
            <a:spLocks noGrp="1" noChangeArrowheads="1"/>
          </p:cNvSpPr>
          <p:nvPr>
            <p:ph type="body" idx="1"/>
          </p:nvPr>
        </p:nvSpPr>
        <p:spPr bwMode="auto">
          <a:xfrm>
            <a:off x="855407" y="2229741"/>
            <a:ext cx="10553956" cy="3959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buNone/>
            </a:pPr>
            <a:r>
              <a:rPr kumimoji="0" lang="es-CO" altLang="es-CO" sz="1400" b="1" i="0" u="none" strike="noStrike" cap="none" normalizeH="0" baseline="0" dirty="0">
                <a:ln>
                  <a:noFill/>
                </a:ln>
                <a:solidFill>
                  <a:schemeClr val="tx1"/>
                </a:solidFill>
                <a:effectLst/>
                <a:latin typeface="Montserrat Regular" panose="00000500000000000000" pitchFamily="2" charset="0"/>
              </a:rPr>
              <a:t>Conclusiones principales:</a:t>
            </a:r>
          </a:p>
          <a:p>
            <a:pPr>
              <a:buFont typeface="+mj-lt"/>
              <a:buAutoNum type="arabicPeriod"/>
            </a:pPr>
            <a:r>
              <a:rPr lang="es-ES" sz="1400" dirty="0"/>
              <a:t>La implementación de VLAN y OSPF en la red simulada mejoró la segmentación, la comunicación y el rendimiento del sistema.</a:t>
            </a:r>
          </a:p>
          <a:p>
            <a:pPr>
              <a:buFont typeface="+mj-lt"/>
              <a:buAutoNum type="arabicPeriod"/>
            </a:pPr>
            <a:r>
              <a:rPr lang="es-ES" sz="1400" dirty="0"/>
              <a:t>El prototipo alcanzó un nivel de madurez tecnológica </a:t>
            </a:r>
            <a:r>
              <a:rPr lang="es-ES" sz="1400" b="1" dirty="0"/>
              <a:t>TRL5</a:t>
            </a:r>
            <a:r>
              <a:rPr lang="es-ES" sz="1400" dirty="0"/>
              <a:t>, validado mediante pruebas técnicas y percepción de usuarios.</a:t>
            </a:r>
          </a:p>
          <a:p>
            <a:pPr>
              <a:buFont typeface="+mj-lt"/>
              <a:buAutoNum type="arabicPeriod"/>
            </a:pPr>
            <a:r>
              <a:rPr lang="es-ES" sz="1400" dirty="0"/>
              <a:t>La solución demuestra ser viable para optimizar redes institucionales y facilitar una infraestructura más estable y eficiente.</a:t>
            </a:r>
          </a:p>
          <a:p>
            <a:endParaRPr lang="es-ES" sz="1400" dirty="0"/>
          </a:p>
          <a:p>
            <a:pPr marL="0" indent="0" eaLnBrk="0" fontAlgn="base" hangingPunct="0">
              <a:lnSpc>
                <a:spcPct val="100000"/>
              </a:lnSpc>
              <a:spcBef>
                <a:spcPct val="0"/>
              </a:spcBef>
              <a:spcAft>
                <a:spcPct val="0"/>
              </a:spcAft>
              <a:buClrTx/>
              <a:buSzTx/>
              <a:buNone/>
            </a:pPr>
            <a:r>
              <a:rPr kumimoji="0" lang="es-CO" altLang="es-CO" sz="1400" b="1" i="0" u="none" strike="noStrike" cap="none" normalizeH="0" baseline="0" dirty="0">
                <a:ln>
                  <a:noFill/>
                </a:ln>
                <a:solidFill>
                  <a:schemeClr val="tx1"/>
                </a:solidFill>
                <a:effectLst/>
                <a:latin typeface="Montserrat Regular" panose="00000500000000000000" pitchFamily="2" charset="0"/>
              </a:rPr>
              <a:t>Trabajo futuro:</a:t>
            </a:r>
          </a:p>
          <a:p>
            <a:pPr>
              <a:buFont typeface="+mj-lt"/>
              <a:buAutoNum type="arabicPeriod"/>
            </a:pPr>
            <a:r>
              <a:rPr lang="es-ES" sz="1400" dirty="0"/>
              <a:t>Integrar redundancia en la red mediante HSRP/VRRP.</a:t>
            </a:r>
          </a:p>
          <a:p>
            <a:pPr>
              <a:buFont typeface="+mj-lt"/>
              <a:buAutoNum type="arabicPeriod"/>
            </a:pPr>
            <a:r>
              <a:rPr lang="es-ES" sz="1400" dirty="0"/>
              <a:t>Implementar mejoras de seguridad como ACL y monitoreo centralizado.</a:t>
            </a:r>
          </a:p>
          <a:p>
            <a:pPr>
              <a:buFont typeface="+mj-lt"/>
              <a:buAutoNum type="arabicPeriod"/>
            </a:pPr>
            <a:r>
              <a:rPr lang="es-ES" sz="1400" dirty="0"/>
              <a:t>Ampliar la topología y realizar pruebas en escenarios más complejos.</a:t>
            </a:r>
          </a:p>
          <a:p>
            <a:pPr>
              <a:buFont typeface="+mj-lt"/>
              <a:buAutoNum type="arabicPeriod"/>
            </a:pPr>
            <a:r>
              <a:rPr lang="es-ES" sz="1400" dirty="0"/>
              <a:t>Migrar gradualmente a IPv6 y avanzar hacia niveles superiores de madurez tecnológica (TRL6 y TRL7).</a:t>
            </a:r>
          </a:p>
          <a:p>
            <a:pPr marL="285750" indent="-285750" eaLnBrk="0" fontAlgn="base" hangingPunct="0">
              <a:lnSpc>
                <a:spcPct val="100000"/>
              </a:lnSpc>
              <a:spcBef>
                <a:spcPct val="0"/>
              </a:spcBef>
              <a:spcAft>
                <a:spcPct val="0"/>
              </a:spcAft>
              <a:buClrTx/>
              <a:buSzTx/>
            </a:pPr>
            <a:endParaRPr kumimoji="0" lang="es-CO" altLang="es-CO" sz="1800" i="0" u="none" strike="noStrike" cap="none" normalizeH="0" baseline="0" dirty="0">
              <a:ln>
                <a:noFill/>
              </a:ln>
              <a:solidFill>
                <a:schemeClr val="tx1"/>
              </a:solidFill>
              <a:effectLst/>
              <a:latin typeface="Montserrat Regular" panose="00000500000000000000" pitchFamily="2" charset="0"/>
            </a:endParaRPr>
          </a:p>
        </p:txBody>
      </p:sp>
    </p:spTree>
    <p:extLst>
      <p:ext uri="{BB962C8B-B14F-4D97-AF65-F5344CB8AC3E}">
        <p14:creationId xmlns:p14="http://schemas.microsoft.com/office/powerpoint/2010/main" val="59968658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Google Shape;471;p21"/>
          <p:cNvSpPr txBox="1">
            <a:spLocks noGrp="1"/>
          </p:cNvSpPr>
          <p:nvPr>
            <p:ph type="title"/>
          </p:nvPr>
        </p:nvSpPr>
        <p:spPr>
          <a:xfrm>
            <a:off x="3692261" y="2295486"/>
            <a:ext cx="4807501" cy="1783801"/>
          </a:xfrm>
          <a:prstGeom prst="rect">
            <a:avLst/>
          </a:prstGeom>
        </p:spPr>
        <p:txBody>
          <a:bodyPr/>
          <a:lstStyle/>
          <a:p>
            <a:r>
              <a:rPr dirty="0"/>
              <a:t>Gracias</a:t>
            </a:r>
          </a:p>
        </p:txBody>
      </p:sp>
    </p:spTree>
  </p:cSld>
  <p:clrMapOvr>
    <a:masterClrMapping/>
  </p:clrMapOvr>
  <p:transition spd="med"/>
</p:sld>
</file>

<file path=ppt/theme/theme1.xml><?xml version="1.0" encoding="utf-8"?>
<a:theme xmlns:a="http://schemas.openxmlformats.org/drawingml/2006/main" name="Tema UNAD 1">
  <a:themeElements>
    <a:clrScheme name="Tema UNAD 1">
      <a:dk1>
        <a:srgbClr val="000000"/>
      </a:dk1>
      <a:lt1>
        <a:srgbClr val="FFFFFF"/>
      </a:lt1>
      <a:dk2>
        <a:srgbClr val="A7A7A7"/>
      </a:dk2>
      <a:lt2>
        <a:srgbClr val="535353"/>
      </a:lt2>
      <a:accent1>
        <a:srgbClr val="D5D5D5"/>
      </a:accent1>
      <a:accent2>
        <a:srgbClr val="005681"/>
      </a:accent2>
      <a:accent3>
        <a:srgbClr val="F4BE00"/>
      </a:accent3>
      <a:accent4>
        <a:srgbClr val="EE7203"/>
      </a:accent4>
      <a:accent5>
        <a:srgbClr val="00739B"/>
      </a:accent5>
      <a:accent6>
        <a:srgbClr val="74189B"/>
      </a:accent6>
      <a:hlink>
        <a:srgbClr val="0000FF"/>
      </a:hlink>
      <a:folHlink>
        <a:srgbClr val="FF00FF"/>
      </a:folHlink>
    </a:clrScheme>
    <a:fontScheme name="Tema UNAD 1">
      <a:majorFont>
        <a:latin typeface="Arial"/>
        <a:ea typeface="Arial"/>
        <a:cs typeface="Arial"/>
      </a:majorFont>
      <a:minorFont>
        <a:latin typeface="Helvetica"/>
        <a:ea typeface="Helvetica"/>
        <a:cs typeface="Helvetica"/>
      </a:minorFont>
    </a:fontScheme>
    <a:fmtScheme name="Tema UNAD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UNAD 1">
  <a:themeElements>
    <a:clrScheme name="Tema UNAD 1">
      <a:dk1>
        <a:srgbClr val="000000"/>
      </a:dk1>
      <a:lt1>
        <a:srgbClr val="FFFFFF"/>
      </a:lt1>
      <a:dk2>
        <a:srgbClr val="A7A7A7"/>
      </a:dk2>
      <a:lt2>
        <a:srgbClr val="535353"/>
      </a:lt2>
      <a:accent1>
        <a:srgbClr val="D5D5D5"/>
      </a:accent1>
      <a:accent2>
        <a:srgbClr val="005681"/>
      </a:accent2>
      <a:accent3>
        <a:srgbClr val="F4BE00"/>
      </a:accent3>
      <a:accent4>
        <a:srgbClr val="EE7203"/>
      </a:accent4>
      <a:accent5>
        <a:srgbClr val="00739B"/>
      </a:accent5>
      <a:accent6>
        <a:srgbClr val="74189B"/>
      </a:accent6>
      <a:hlink>
        <a:srgbClr val="0000FF"/>
      </a:hlink>
      <a:folHlink>
        <a:srgbClr val="FF00FF"/>
      </a:folHlink>
    </a:clrScheme>
    <a:fontScheme name="Tema UNAD 1">
      <a:majorFont>
        <a:latin typeface="Arial"/>
        <a:ea typeface="Arial"/>
        <a:cs typeface="Arial"/>
      </a:majorFont>
      <a:minorFont>
        <a:latin typeface="Helvetica"/>
        <a:ea typeface="Helvetica"/>
        <a:cs typeface="Helvetica"/>
      </a:minorFont>
    </a:fontScheme>
    <a:fmtScheme name="Tema UNAD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0D7065E-8231-4CF5-92EF-C232ABAED864}">
  <we:reference id="6a7bd4f3-0563-43af-8c08-79110eebdff6" version="1.1.4.0" store="EXCatalog" storeType="EXCatalog"/>
  <we:alternateReferences>
    <we:reference id="WA104381155" version="1.1.4.0" store="es-CO"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432B1A5CE92345B3867C6710D54EFA" ma:contentTypeVersion="3" ma:contentTypeDescription="Create a new document." ma:contentTypeScope="" ma:versionID="9ecbba7ac59475e183dc401ecacd6d33">
  <xsd:schema xmlns:xsd="http://www.w3.org/2001/XMLSchema" xmlns:xs="http://www.w3.org/2001/XMLSchema" xmlns:p="http://schemas.microsoft.com/office/2006/metadata/properties" xmlns:ns2="bd4e2129-e7b8-4b89-800a-f9f3d4eb0013" targetNamespace="http://schemas.microsoft.com/office/2006/metadata/properties" ma:root="true" ma:fieldsID="c19e9d0d47ed50d502e82bc949024ae2" ns2:_="">
    <xsd:import namespace="bd4e2129-e7b8-4b89-800a-f9f3d4eb001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4e2129-e7b8-4b89-800a-f9f3d4eb00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682A12-1A47-41C6-8D48-84BFD2D355BC}">
  <ds:schemaRefs>
    <ds:schemaRef ds:uri="http://schemas.microsoft.com/sharepoint/v3/contenttype/forms"/>
  </ds:schemaRefs>
</ds:datastoreItem>
</file>

<file path=customXml/itemProps2.xml><?xml version="1.0" encoding="utf-8"?>
<ds:datastoreItem xmlns:ds="http://schemas.openxmlformats.org/officeDocument/2006/customXml" ds:itemID="{0FC123C2-08CE-4CF7-A47F-700E56D21C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4e2129-e7b8-4b89-800a-f9f3d4eb00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C71C43A-6764-4983-BB42-1FFCEBE44A88}">
  <ds:schemaRefs>
    <ds:schemaRef ds:uri="http://www.w3.org/XML/1998/namespace"/>
    <ds:schemaRef ds:uri="bd4e2129-e7b8-4b89-800a-f9f3d4eb0013"/>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77</TotalTime>
  <Words>2019</Words>
  <Application>Microsoft Office PowerPoint</Application>
  <PresentationFormat>Panorámica</PresentationFormat>
  <Paragraphs>124</Paragraphs>
  <Slides>17</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Arial</vt:lpstr>
      <vt:lpstr>Montserrat Bold</vt:lpstr>
      <vt:lpstr>Montserrat Regular</vt:lpstr>
      <vt:lpstr>Montserrat SemiBold</vt:lpstr>
      <vt:lpstr>Roboto Bold</vt:lpstr>
      <vt:lpstr>Tema UNAD 1</vt:lpstr>
      <vt:lpstr>Presentación de PowerPoint</vt:lpstr>
      <vt:lpstr>Contexto del problema y línea de investigación</vt:lpstr>
      <vt:lpstr>Planteamiento del problema</vt:lpstr>
      <vt:lpstr>Justificación y delimitación del proyecto</vt:lpstr>
      <vt:lpstr>Objetivo general y objetivos específicos</vt:lpstr>
      <vt:lpstr>Marco referencial</vt:lpstr>
      <vt:lpstr>Metodología de investigación</vt:lpstr>
      <vt:lpstr>Metodología de desarrollo y nivel de madurez tecnológica</vt:lpstr>
      <vt:lpstr>Diseño de la solución: arquitectura y módulos</vt:lpstr>
      <vt:lpstr>Presentación de PowerPoint</vt:lpstr>
      <vt:lpstr>Presentación de PowerPoint</vt:lpstr>
      <vt:lpstr>Prototipo de red y flujo de uso</vt:lpstr>
      <vt:lpstr>Presentación de PowerPoint</vt:lpstr>
      <vt:lpstr>Presentación de PowerPoint</vt:lpstr>
      <vt:lpstr>Presentación de PowerPoint</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Daniel Andres Guzman Arevalo</dc:creator>
  <cp:lastModifiedBy>JUAN JOSE ARIAS ALBA</cp:lastModifiedBy>
  <cp:revision>30</cp:revision>
  <dcterms:modified xsi:type="dcterms:W3CDTF">2025-12-04T01:47:29Z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0x01010084432B1A5CE92345B3867C6710D54EFA</vt:lpwstr>
  </property>
</Properties>
</file>